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3F9E3F-066D-1551-4FD2-1B29544C2CC4}" v="3" dt="2026-10-09T07:11:16.7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jita Bhandari" userId="S::prajita.bhandari@cqumail.com::1e6a841e-85da-4329-a43d-cd1664682111" providerId="AD" clId="Web-{243F9E3F-066D-1551-4FD2-1B29544C2CC4}"/>
    <pc:docChg chg="modSld">
      <pc:chgData name="Prajita Bhandari" userId="S::prajita.bhandari@cqumail.com::1e6a841e-85da-4329-a43d-cd1664682111" providerId="AD" clId="Web-{243F9E3F-066D-1551-4FD2-1B29544C2CC4}" dt="2026-10-09T07:11:16.709" v="2" actId="20577"/>
      <pc:docMkLst>
        <pc:docMk/>
      </pc:docMkLst>
      <pc:sldChg chg="modSp">
        <pc:chgData name="Prajita Bhandari" userId="S::prajita.bhandari@cqumail.com::1e6a841e-85da-4329-a43d-cd1664682111" providerId="AD" clId="Web-{243F9E3F-066D-1551-4FD2-1B29544C2CC4}" dt="2026-10-09T07:11:16.709" v="2" actId="20577"/>
        <pc:sldMkLst>
          <pc:docMk/>
          <pc:sldMk cId="0" sldId="260"/>
        </pc:sldMkLst>
        <pc:spChg chg="mod">
          <ac:chgData name="Prajita Bhandari" userId="S::prajita.bhandari@cqumail.com::1e6a841e-85da-4329-a43d-cd1664682111" providerId="AD" clId="Web-{243F9E3F-066D-1551-4FD2-1B29544C2CC4}" dt="2026-10-09T07:11:10.490" v="0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Prajita Bhandari" userId="S::prajita.bhandari@cqumail.com::1e6a841e-85da-4329-a43d-cd1664682111" providerId="AD" clId="Web-{243F9E3F-066D-1551-4FD2-1B29544C2CC4}" dt="2026-10-09T07:11:16.709" v="2" actId="20577"/>
          <ac:spMkLst>
            <pc:docMk/>
            <pc:sldMk cId="0" sldId="260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6259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960120"/>
            <a:ext cx="557784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AI-Based Customer Support Automation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AI-Based Customer Support Automation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prajitabhandari1234/AI-Based-Customer-Support-Automation-System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7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13.png"/><Relationship Id="rId9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aics-050.workers.dev/login" TargetMode="External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3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5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image" descr="Robot hands touching a digital interfac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96012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AI-Based Customer Support Automation System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3375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Final Project Presentation &amp; Demonstration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4"/>
                </a:solidFill>
              </a:rPr>
              <a:t>TEAM MEMBERS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80060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Prajita Bhandari</a:t>
            </a:r>
            <a:r>
              <a:rPr lang="en-US" sz="1600" dirty="0">
                <a:solidFill>
                  <a:schemeClr val="accent4"/>
                </a:solidFill>
              </a:rPr>
              <a:t>  (12255441)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Akrishta Ale</a:t>
            </a:r>
            <a:r>
              <a:rPr lang="en-US" sz="1600" dirty="0">
                <a:solidFill>
                  <a:schemeClr val="accent4"/>
                </a:solidFill>
              </a:rPr>
              <a:t>  (12267761)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Ayush Bhandari</a:t>
            </a:r>
            <a:r>
              <a:rPr lang="en-US" sz="1600" dirty="0">
                <a:solidFill>
                  <a:schemeClr val="accent4"/>
                </a:solidFill>
              </a:rPr>
              <a:t>  (S12157470)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The Problem</a:t>
            </a:r>
            <a:endParaRPr lang="en-US" sz="3400" dirty="0"/>
          </a:p>
        </p:txBody>
      </p:sp>
      <p:sp>
        <p:nvSpPr>
          <p:cNvPr id="3" name="Core problem card"/>
          <p:cNvSpPr/>
          <p:nvPr/>
        </p:nvSpPr>
        <p:spPr>
          <a:xfrm>
            <a:off x="548640" y="1371600"/>
            <a:ext cx="544068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" name="Core problem badge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5" name="Core problem icon" descr="Core pro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1690268"/>
            <a:ext cx="231343" cy="231343"/>
          </a:xfrm>
          <a:prstGeom prst="rect">
            <a:avLst/>
          </a:prstGeom>
        </p:spPr>
      </p:pic>
      <p:sp>
        <p:nvSpPr>
          <p:cNvPr id="6" name="Core problem heading"/>
          <p:cNvSpPr txBox="1"/>
          <p:nvPr/>
        </p:nvSpPr>
        <p:spPr>
          <a:xfrm>
            <a:off x="1508760" y="1554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The Core Problem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Customer support teams often handle large numbers of repetitive enquiries such as: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Account and login issues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Product and service information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Order-related enquiries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Basic troubleshooting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General support questions</a:t>
            </a:r>
            <a:endParaRPr lang="en-US" sz="1600" dirty="0"/>
          </a:p>
        </p:txBody>
      </p:sp>
      <p:sp>
        <p:nvSpPr>
          <p:cNvPr id="9" name="Manual handling card"/>
          <p:cNvSpPr/>
          <p:nvPr/>
        </p:nvSpPr>
        <p:spPr>
          <a:xfrm>
            <a:off x="6217920" y="1371600"/>
            <a:ext cx="5422392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Manual handling badge"/>
          <p:cNvSpPr/>
          <p:nvPr/>
        </p:nvSpPr>
        <p:spPr>
          <a:xfrm>
            <a:off x="6492240" y="15544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1" name="Manual handling icon" descr="Manual handl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028" y="1690268"/>
            <a:ext cx="231343" cy="231343"/>
          </a:xfrm>
          <a:prstGeom prst="rect">
            <a:avLst/>
          </a:prstGeom>
        </p:spPr>
      </p:pic>
      <p:sp>
        <p:nvSpPr>
          <p:cNvPr id="12" name="Manual handling heading"/>
          <p:cNvSpPr txBox="1"/>
          <p:nvPr/>
        </p:nvSpPr>
        <p:spPr>
          <a:xfrm>
            <a:off x="7178040" y="1554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Manual handling can result in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492240" y="2331720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Longer customer waiting times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Increased workload for support staff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Inconsistent ticket classification and prioritisation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Difficulty identifying urgent or complex cases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Limited visibility of support performance</a:t>
            </a:r>
            <a:endParaRPr lang="en-US" sz="1600" dirty="0"/>
          </a:p>
        </p:txBody>
      </p:sp>
      <p:sp>
        <p:nvSpPr>
          <p:cNvPr id="14" name="Challenge banner"/>
          <p:cNvSpPr/>
          <p:nvPr/>
        </p:nvSpPr>
        <p:spPr>
          <a:xfrm>
            <a:off x="548640" y="5166360"/>
            <a:ext cx="11094415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5" name="Challenge badge"/>
          <p:cNvSpPr/>
          <p:nvPr/>
        </p:nvSpPr>
        <p:spPr>
          <a:xfrm>
            <a:off x="868680" y="54406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6" name="Challenge icon" descr="Challen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813" y="558881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45920" y="5303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4"/>
                </a:solidFill>
              </a:rPr>
              <a:t>OUR CHALLENGE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645920" y="5596128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How can AI automate routine customer support while ensuring complex or sensitive cases remain under human control?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Project Objectives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What We Wanted to Achieve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Develop an integrated customer-support platform that can:</a:t>
            </a:r>
            <a:endParaRPr lang="en-US" sz="1600" dirty="0"/>
          </a:p>
        </p:txBody>
      </p:sp>
      <p:sp>
        <p:nvSpPr>
          <p:cNvPr id="5" name="Objectives left"/>
          <p:cNvSpPr/>
          <p:nvPr/>
        </p:nvSpPr>
        <p:spPr>
          <a:xfrm>
            <a:off x="548640" y="2148840"/>
            <a:ext cx="5440680" cy="3246120"/>
          </a:xfrm>
          <a:prstGeom prst="roundRect">
            <a:avLst>
              <a:gd name="adj" fmla="val 2817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6" name="Objectives right"/>
          <p:cNvSpPr/>
          <p:nvPr/>
        </p:nvSpPr>
        <p:spPr>
          <a:xfrm>
            <a:off x="6217920" y="2148840"/>
            <a:ext cx="5422392" cy="3246120"/>
          </a:xfrm>
          <a:prstGeom prst="roundRect">
            <a:avLst>
              <a:gd name="adj" fmla="val 2817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7" name="Objective 1"/>
          <p:cNvSpPr txBox="1"/>
          <p:nvPr/>
        </p:nvSpPr>
        <p:spPr>
          <a:xfrm>
            <a:off x="777240" y="22951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Objective text 1"/>
          <p:cNvSpPr txBox="1"/>
          <p:nvPr/>
        </p:nvSpPr>
        <p:spPr>
          <a:xfrm>
            <a:off x="1325880" y="225856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Provide AI-assisted responses to common customer enquiries</a:t>
            </a:r>
            <a:endParaRPr lang="en-US" sz="1500" dirty="0"/>
          </a:p>
        </p:txBody>
      </p:sp>
      <p:sp>
        <p:nvSpPr>
          <p:cNvPr id="9" name="Objective 2"/>
          <p:cNvSpPr txBox="1"/>
          <p:nvPr/>
        </p:nvSpPr>
        <p:spPr>
          <a:xfrm>
            <a:off x="777240" y="279806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Objective text 2"/>
          <p:cNvSpPr txBox="1"/>
          <p:nvPr/>
        </p:nvSpPr>
        <p:spPr>
          <a:xfrm>
            <a:off x="1325880" y="276148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Automatically create and manage support tickets</a:t>
            </a:r>
            <a:endParaRPr lang="en-US" sz="1500" dirty="0"/>
          </a:p>
        </p:txBody>
      </p:sp>
      <p:sp>
        <p:nvSpPr>
          <p:cNvPr id="11" name="Objective 3"/>
          <p:cNvSpPr txBox="1"/>
          <p:nvPr/>
        </p:nvSpPr>
        <p:spPr>
          <a:xfrm>
            <a:off x="777240" y="330098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Objective text 3"/>
          <p:cNvSpPr txBox="1"/>
          <p:nvPr/>
        </p:nvSpPr>
        <p:spPr>
          <a:xfrm>
            <a:off x="1325880" y="3264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Categorise and prioritise customer issues</a:t>
            </a:r>
            <a:endParaRPr lang="en-US" sz="1500" dirty="0"/>
          </a:p>
        </p:txBody>
      </p:sp>
      <p:sp>
        <p:nvSpPr>
          <p:cNvPr id="13" name="Objective 4"/>
          <p:cNvSpPr txBox="1"/>
          <p:nvPr/>
        </p:nvSpPr>
        <p:spPr>
          <a:xfrm>
            <a:off x="777240" y="380390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Objective text 4"/>
          <p:cNvSpPr txBox="1"/>
          <p:nvPr/>
        </p:nvSpPr>
        <p:spPr>
          <a:xfrm>
            <a:off x="1325880" y="376732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Analyse customer sentiment</a:t>
            </a:r>
            <a:endParaRPr lang="en-US" sz="1500" dirty="0"/>
          </a:p>
        </p:txBody>
      </p:sp>
      <p:sp>
        <p:nvSpPr>
          <p:cNvPr id="15" name="Objective 5"/>
          <p:cNvSpPr txBox="1"/>
          <p:nvPr/>
        </p:nvSpPr>
        <p:spPr>
          <a:xfrm>
            <a:off x="777240" y="430682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6" name="Objective text 5"/>
          <p:cNvSpPr txBox="1"/>
          <p:nvPr/>
        </p:nvSpPr>
        <p:spPr>
          <a:xfrm>
            <a:off x="1325880" y="427024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Assess AI confidence</a:t>
            </a:r>
            <a:endParaRPr lang="en-US" sz="1500" dirty="0"/>
          </a:p>
        </p:txBody>
      </p:sp>
      <p:sp>
        <p:nvSpPr>
          <p:cNvPr id="17" name="Objective 6"/>
          <p:cNvSpPr txBox="1"/>
          <p:nvPr/>
        </p:nvSpPr>
        <p:spPr>
          <a:xfrm>
            <a:off x="777240" y="48097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18" name="Objective text 6"/>
          <p:cNvSpPr txBox="1"/>
          <p:nvPr/>
        </p:nvSpPr>
        <p:spPr>
          <a:xfrm>
            <a:off x="1325880" y="477316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Escalate appropriate cases to human agents</a:t>
            </a:r>
            <a:endParaRPr lang="en-US" sz="1500" dirty="0"/>
          </a:p>
        </p:txBody>
      </p:sp>
      <p:sp>
        <p:nvSpPr>
          <p:cNvPr id="19" name="Objective 7"/>
          <p:cNvSpPr txBox="1"/>
          <p:nvPr/>
        </p:nvSpPr>
        <p:spPr>
          <a:xfrm>
            <a:off x="6446520" y="229514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0" name="Objective text 7"/>
          <p:cNvSpPr txBox="1"/>
          <p:nvPr/>
        </p:nvSpPr>
        <p:spPr>
          <a:xfrm>
            <a:off x="6995160" y="225856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Preserve conversation and ticket history</a:t>
            </a:r>
            <a:endParaRPr lang="en-US" sz="1500" dirty="0"/>
          </a:p>
        </p:txBody>
      </p:sp>
      <p:sp>
        <p:nvSpPr>
          <p:cNvPr id="21" name="Objective 8"/>
          <p:cNvSpPr txBox="1"/>
          <p:nvPr/>
        </p:nvSpPr>
        <p:spPr>
          <a:xfrm>
            <a:off x="6446520" y="279806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22" name="Objective text 8"/>
          <p:cNvSpPr txBox="1"/>
          <p:nvPr/>
        </p:nvSpPr>
        <p:spPr>
          <a:xfrm>
            <a:off x="6995160" y="276148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Provide role-based access for Clients, Agents and Administrators</a:t>
            </a:r>
            <a:endParaRPr lang="en-US" sz="1500" dirty="0"/>
          </a:p>
        </p:txBody>
      </p:sp>
      <p:sp>
        <p:nvSpPr>
          <p:cNvPr id="23" name="Objective 9"/>
          <p:cNvSpPr txBox="1"/>
          <p:nvPr/>
        </p:nvSpPr>
        <p:spPr>
          <a:xfrm>
            <a:off x="6446520" y="330098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24" name="Objective text 9"/>
          <p:cNvSpPr txBox="1"/>
          <p:nvPr/>
        </p:nvSpPr>
        <p:spPr>
          <a:xfrm>
            <a:off x="6995160" y="3264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Support knowledge-base management</a:t>
            </a:r>
            <a:endParaRPr lang="en-US" sz="1500" dirty="0"/>
          </a:p>
        </p:txBody>
      </p:sp>
      <p:sp>
        <p:nvSpPr>
          <p:cNvPr id="25" name="Objective 10"/>
          <p:cNvSpPr txBox="1"/>
          <p:nvPr/>
        </p:nvSpPr>
        <p:spPr>
          <a:xfrm>
            <a:off x="6446520" y="380390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10</a:t>
            </a:r>
            <a:endParaRPr lang="en-US" sz="1400" dirty="0"/>
          </a:p>
        </p:txBody>
      </p:sp>
      <p:sp>
        <p:nvSpPr>
          <p:cNvPr id="26" name="Objective text 10"/>
          <p:cNvSpPr txBox="1"/>
          <p:nvPr/>
        </p:nvSpPr>
        <p:spPr>
          <a:xfrm>
            <a:off x="6995160" y="376732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Provide analytics and system activity logging</a:t>
            </a:r>
            <a:endParaRPr lang="en-US" sz="1500" dirty="0"/>
          </a:p>
        </p:txBody>
      </p:sp>
      <p:sp>
        <p:nvSpPr>
          <p:cNvPr id="27" name="Objective 11"/>
          <p:cNvSpPr txBox="1"/>
          <p:nvPr/>
        </p:nvSpPr>
        <p:spPr>
          <a:xfrm>
            <a:off x="6446520" y="4306824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11</a:t>
            </a:r>
            <a:endParaRPr lang="en-US" sz="1400" dirty="0"/>
          </a:p>
        </p:txBody>
      </p:sp>
      <p:sp>
        <p:nvSpPr>
          <p:cNvPr id="28" name="Objective text 11"/>
          <p:cNvSpPr txBox="1"/>
          <p:nvPr/>
        </p:nvSpPr>
        <p:spPr>
          <a:xfrm>
            <a:off x="6995160" y="427024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Maintain secure authentication and access control</a:t>
            </a:r>
            <a:endParaRPr lang="en-US" sz="1500" dirty="0"/>
          </a:p>
        </p:txBody>
      </p:sp>
      <p:sp>
        <p:nvSpPr>
          <p:cNvPr id="29" name="Main goal banner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30" name="Text 28"/>
          <p:cNvSpPr txBox="1"/>
          <p:nvPr/>
        </p:nvSpPr>
        <p:spPr>
          <a:xfrm>
            <a:off x="868680" y="557784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2"/>
                </a:solidFill>
              </a:rPr>
              <a:t>MAIN GOAL   </a:t>
            </a:r>
            <a:r>
              <a:rPr lang="en-US" sz="1600" b="1" dirty="0">
                <a:solidFill>
                  <a:schemeClr val="bg1"/>
                </a:solidFill>
              </a:rPr>
              <a:t>Combine AI automation with human support rather than replacing human decision-making.</a:t>
            </a:r>
            <a:endParaRPr lang="en-US" sz="16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Solution Overview</a:t>
            </a:r>
            <a:endParaRPr lang="en-US" sz="3400" dirty="0"/>
          </a:p>
        </p:txBody>
      </p:sp>
      <p:sp>
        <p:nvSpPr>
          <p:cNvPr id="3" name="AI Assistance card"/>
          <p:cNvSpPr/>
          <p:nvPr/>
        </p:nvSpPr>
        <p:spPr>
          <a:xfrm>
            <a:off x="548640" y="1508760"/>
            <a:ext cx="2567864" cy="4206240"/>
          </a:xfrm>
          <a:prstGeom prst="roundRect">
            <a:avLst>
              <a:gd name="adj" fmla="val 3561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" name="AI Assistance badge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5" name="AI Assistance icon" descr="AI Assista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126" y="1968246"/>
            <a:ext cx="315468" cy="3154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AI Assistance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2110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responses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Category prediction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Priority assessment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Sentiment analysis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Confidence assessment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Escalation support</a:t>
            </a:r>
            <a:endParaRPr lang="en-US" sz="1600" dirty="0"/>
          </a:p>
        </p:txBody>
      </p:sp>
      <p:sp>
        <p:nvSpPr>
          <p:cNvPr id="8" name="Ticket Management card"/>
          <p:cNvSpPr/>
          <p:nvPr/>
        </p:nvSpPr>
        <p:spPr>
          <a:xfrm>
            <a:off x="3390824" y="1508760"/>
            <a:ext cx="2567864" cy="4206240"/>
          </a:xfrm>
          <a:prstGeom prst="roundRect">
            <a:avLst>
              <a:gd name="adj" fmla="val 3561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Ticket Management badge"/>
          <p:cNvSpPr/>
          <p:nvPr/>
        </p:nvSpPr>
        <p:spPr>
          <a:xfrm>
            <a:off x="3665144" y="17830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0" name="Ticket Management icon" descr="Ticket Manageme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310" y="1968246"/>
            <a:ext cx="315468" cy="3154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97480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Ticket Management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246120"/>
            <a:ext cx="2110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Ticket creation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Status tracking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Assignment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Agent responses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Resolution workflow</a:t>
            </a:r>
            <a:endParaRPr lang="en-US" sz="1600" dirty="0"/>
          </a:p>
        </p:txBody>
      </p:sp>
      <p:sp>
        <p:nvSpPr>
          <p:cNvPr id="13" name="Security card"/>
          <p:cNvSpPr/>
          <p:nvPr/>
        </p:nvSpPr>
        <p:spPr>
          <a:xfrm>
            <a:off x="6233008" y="1508760"/>
            <a:ext cx="2567864" cy="4206240"/>
          </a:xfrm>
          <a:prstGeom prst="roundRect">
            <a:avLst>
              <a:gd name="adj" fmla="val 3561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Security badge"/>
          <p:cNvSpPr/>
          <p:nvPr/>
        </p:nvSpPr>
        <p:spPr>
          <a:xfrm>
            <a:off x="6507328" y="17830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5" name="Security icon" descr="Securit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494" y="1968246"/>
            <a:ext cx="315468" cy="31546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97480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Security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246120"/>
            <a:ext cx="2110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JWT authentication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BCrypt password hashing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Role-Based Access Control</a:t>
            </a:r>
            <a:endParaRPr lang="en-US" sz="1600" dirty="0"/>
          </a:p>
        </p:txBody>
      </p:sp>
      <p:sp>
        <p:nvSpPr>
          <p:cNvPr id="18" name="Administration card"/>
          <p:cNvSpPr/>
          <p:nvPr/>
        </p:nvSpPr>
        <p:spPr>
          <a:xfrm>
            <a:off x="9075191" y="1508760"/>
            <a:ext cx="2567864" cy="4206240"/>
          </a:xfrm>
          <a:prstGeom prst="roundRect">
            <a:avLst>
              <a:gd name="adj" fmla="val 3561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9" name="Administration badge"/>
          <p:cNvSpPr/>
          <p:nvPr/>
        </p:nvSpPr>
        <p:spPr>
          <a:xfrm>
            <a:off x="9349511" y="1783080"/>
            <a:ext cx="685800" cy="685800"/>
          </a:xfrm>
          <a:prstGeom prst="ellipse">
            <a:avLst/>
          </a:prstGeom>
          <a:solidFill>
            <a:schemeClr val="accent6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20" name="Administration icon" descr="Administrati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4677" y="1968246"/>
            <a:ext cx="315468" cy="31546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97480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Administration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246120"/>
            <a:ext cx="2110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management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Knowledge Base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Analytics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System logs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Project Scope</a:t>
            </a:r>
            <a:endParaRPr lang="en-US" sz="3400" dirty="0"/>
          </a:p>
        </p:txBody>
      </p:sp>
      <p:sp>
        <p:nvSpPr>
          <p:cNvPr id="3" name="Built card"/>
          <p:cNvSpPr/>
          <p:nvPr/>
        </p:nvSpPr>
        <p:spPr>
          <a:xfrm>
            <a:off x="548640" y="1371600"/>
            <a:ext cx="7589520" cy="4846320"/>
          </a:xfrm>
          <a:prstGeom prst="roundRect">
            <a:avLst>
              <a:gd name="adj" fmla="val 1887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" name="Built badge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5" name="Built icon" descr="Buil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1690268"/>
            <a:ext cx="231343" cy="231343"/>
          </a:xfrm>
          <a:prstGeom prst="rect">
            <a:avLst/>
          </a:prstGeom>
        </p:spPr>
      </p:pic>
      <p:sp>
        <p:nvSpPr>
          <p:cNvPr id="6" name="Built heading"/>
          <p:cNvSpPr txBox="1"/>
          <p:nvPr/>
        </p:nvSpPr>
        <p:spPr>
          <a:xfrm>
            <a:off x="1508760" y="1554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What We Built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User registration and authentication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AI-assisted customer chat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Customer conversation history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Ticket creation and lifecycle management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/>
              <a:t>Automatic ticket </a:t>
            </a:r>
            <a:r>
              <a:rPr lang="en-US" sz="1500"/>
              <a:t>categorization</a:t>
            </a:r>
            <a:endParaRPr lang="en-US" sz="1500" dirty="0">
              <a:ea typeface="Calibri"/>
              <a:cs typeface="Calibri"/>
            </a:endParaRPr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Priority assessment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Sentiment and confidence analysis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Human-agent escalation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Agent ticket management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389120" y="237744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Customer notifications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/>
              <a:t>Knowledge-base management</a:t>
            </a:r>
            <a:endParaRPr lang="en-US" sz="1500" dirty="0">
              <a:ea typeface="Calibri"/>
              <a:cs typeface="Calibri"/>
            </a:endParaRPr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Administrator user management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Analytics and reporting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System activity logging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Role-Based Access Control</a:t>
            </a:r>
            <a:endParaRPr lang="en-US" sz="15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/>
              <a:t>Docker-based </a:t>
            </a:r>
            <a:r>
              <a:rPr lang="en-US" sz="1500"/>
              <a:t>containerization</a:t>
            </a:r>
            <a:endParaRPr lang="en-US" sz="1500" dirty="0">
              <a:ea typeface="Calibri"/>
              <a:cs typeface="Calibri"/>
            </a:endParaRPr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Cloud deployment</a:t>
            </a:r>
            <a:endParaRPr lang="en-US" sz="1500" dirty="0"/>
          </a:p>
        </p:txBody>
      </p:sp>
      <p:sp>
        <p:nvSpPr>
          <p:cNvPr id="9" name="Out of scope card"/>
          <p:cNvSpPr/>
          <p:nvPr/>
        </p:nvSpPr>
        <p:spPr>
          <a:xfrm>
            <a:off x="8321040" y="1371600"/>
            <a:ext cx="3319272" cy="4846320"/>
          </a:xfrm>
          <a:prstGeom prst="roundRect">
            <a:avLst>
              <a:gd name="adj" fmla="val 2755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Out of scope badge"/>
          <p:cNvSpPr/>
          <p:nvPr/>
        </p:nvSpPr>
        <p:spPr>
          <a:xfrm>
            <a:off x="8595360" y="15544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1" name="Out of scope icon" descr="Out of scop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1148" y="169026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595360" y="21945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Outside the Original Project Scope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8595360" y="320040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Native mobile application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Voice-based AI support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Video support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Multilingual support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Payment processing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Users and Roles</a:t>
            </a:r>
            <a:endParaRPr lang="en-US" sz="3400" dirty="0"/>
          </a:p>
        </p:txBody>
      </p:sp>
      <p:sp>
        <p:nvSpPr>
          <p:cNvPr id="3" name="Client card"/>
          <p:cNvSpPr/>
          <p:nvPr/>
        </p:nvSpPr>
        <p:spPr>
          <a:xfrm>
            <a:off x="548640" y="1463040"/>
            <a:ext cx="3515258" cy="4572000"/>
          </a:xfrm>
          <a:prstGeom prst="roundRect">
            <a:avLst>
              <a:gd name="adj" fmla="val 2601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" name="Client badge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5" name="Client icon" descr="Cli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1827428"/>
            <a:ext cx="231343" cy="231343"/>
          </a:xfrm>
          <a:prstGeom prst="rect">
            <a:avLst/>
          </a:prstGeom>
        </p:spPr>
      </p:pic>
      <p:sp>
        <p:nvSpPr>
          <p:cNvPr id="6" name="Client heading"/>
          <p:cNvSpPr txBox="1"/>
          <p:nvPr/>
        </p:nvSpPr>
        <p:spPr>
          <a:xfrm>
            <a:off x="1508760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Client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301233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Register and log in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Chat with AI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Create support requests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View tickets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Track ticket status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Review conversation history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Receive support responses</a:t>
            </a:r>
            <a:endParaRPr lang="en-US" sz="1600" dirty="0"/>
          </a:p>
        </p:txBody>
      </p:sp>
      <p:sp>
        <p:nvSpPr>
          <p:cNvPr id="8" name="Support Agent card"/>
          <p:cNvSpPr/>
          <p:nvPr/>
        </p:nvSpPr>
        <p:spPr>
          <a:xfrm>
            <a:off x="4338218" y="1463040"/>
            <a:ext cx="3515258" cy="4572000"/>
          </a:xfrm>
          <a:prstGeom prst="roundRect">
            <a:avLst>
              <a:gd name="adj" fmla="val 2601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upport Agent badge"/>
          <p:cNvSpPr/>
          <p:nvPr/>
        </p:nvSpPr>
        <p:spPr>
          <a:xfrm>
            <a:off x="4612538" y="169164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0" name="Support Agent icon" descr="Support Age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327" y="1827428"/>
            <a:ext cx="231343" cy="231343"/>
          </a:xfrm>
          <a:prstGeom prst="rect">
            <a:avLst/>
          </a:prstGeom>
        </p:spPr>
      </p:pic>
      <p:sp>
        <p:nvSpPr>
          <p:cNvPr id="11" name="Support Agent heading"/>
          <p:cNvSpPr txBox="1"/>
          <p:nvPr/>
        </p:nvSpPr>
        <p:spPr>
          <a:xfrm>
            <a:off x="5298338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Support Agent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514600"/>
            <a:ext cx="301233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View escalated tickets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Review customer conversations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Assign tickets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Respond to customers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Update ticket status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Resolve support cases</a:t>
            </a:r>
            <a:endParaRPr lang="en-US" sz="1600" dirty="0"/>
          </a:p>
        </p:txBody>
      </p:sp>
      <p:sp>
        <p:nvSpPr>
          <p:cNvPr id="13" name="Administrator card"/>
          <p:cNvSpPr/>
          <p:nvPr/>
        </p:nvSpPr>
        <p:spPr>
          <a:xfrm>
            <a:off x="8127797" y="1463040"/>
            <a:ext cx="3515258" cy="4572000"/>
          </a:xfrm>
          <a:prstGeom prst="roundRect">
            <a:avLst>
              <a:gd name="adj" fmla="val 2601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4" name="Administrator badge"/>
          <p:cNvSpPr/>
          <p:nvPr/>
        </p:nvSpPr>
        <p:spPr>
          <a:xfrm>
            <a:off x="8402117" y="1691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5" name="Administrator icon" descr="Administrato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905" y="1827428"/>
            <a:ext cx="231343" cy="231343"/>
          </a:xfrm>
          <a:prstGeom prst="rect">
            <a:avLst/>
          </a:prstGeom>
        </p:spPr>
      </p:pic>
      <p:sp>
        <p:nvSpPr>
          <p:cNvPr id="16" name="Administrator heading"/>
          <p:cNvSpPr txBox="1"/>
          <p:nvPr/>
        </p:nvSpPr>
        <p:spPr>
          <a:xfrm>
            <a:off x="9087917" y="1691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Administrator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514600"/>
            <a:ext cx="301233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Manage users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Manage roles and account status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Maintain Knowledge Base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Review analytics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Review system activity logs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Team Contributions</a:t>
            </a:r>
            <a:endParaRPr lang="en-US" sz="3400" dirty="0"/>
          </a:p>
        </p:txBody>
      </p:sp>
      <p:sp>
        <p:nvSpPr>
          <p:cNvPr id="3" name="Prajita Bhandari card"/>
          <p:cNvSpPr/>
          <p:nvPr/>
        </p:nvSpPr>
        <p:spPr>
          <a:xfrm>
            <a:off x="548640" y="1371600"/>
            <a:ext cx="3931920" cy="4892040"/>
          </a:xfrm>
          <a:prstGeom prst="roundRect">
            <a:avLst>
              <a:gd name="adj" fmla="val 2326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pic>
        <p:nvPicPr>
          <p:cNvPr id="5" name="Prajita Bhandari icon" descr="Prajita Bhandar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3" y="1702613"/>
            <a:ext cx="252374" cy="25237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15727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Prajita Bhandari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190195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Backend Development &amp; Database Lead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Spring Boot REST APIs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Database and JPA persistence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Authentication and JWT security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Role-Based Access Control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Ticket and conversation management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Agent functionality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Notifications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Knowledge Base backend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Admin user management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System logging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Exception handling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Analytics backend</a:t>
            </a:r>
            <a:endParaRPr lang="en-US" sz="14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Backend testing</a:t>
            </a:r>
            <a:endParaRPr lang="en-US" sz="1400" dirty="0"/>
          </a:p>
        </p:txBody>
      </p:sp>
      <p:sp>
        <p:nvSpPr>
          <p:cNvPr id="9" name="Akrishta Ale card"/>
          <p:cNvSpPr/>
          <p:nvPr/>
        </p:nvSpPr>
        <p:spPr>
          <a:xfrm>
            <a:off x="4754880" y="1371600"/>
            <a:ext cx="3291840" cy="48920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pic>
        <p:nvPicPr>
          <p:cNvPr id="11" name="Akrishta Ale icon" descr="Akrishta A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1613" y="170261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29200" y="1572768"/>
            <a:ext cx="283464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Akrishta Ale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029200" y="19019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Frontend &amp; UI/UX Lead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0" y="2560320"/>
            <a:ext cx="2788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React frontend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User interfaces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Client, Agent and Admin pages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Frontend API integration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Responsive UI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Frontend testing</a:t>
            </a:r>
            <a:endParaRPr lang="en-US" sz="1400" dirty="0"/>
          </a:p>
        </p:txBody>
      </p:sp>
      <p:sp>
        <p:nvSpPr>
          <p:cNvPr id="15" name="Ayush Bhandari card"/>
          <p:cNvSpPr/>
          <p:nvPr/>
        </p:nvSpPr>
        <p:spPr>
          <a:xfrm>
            <a:off x="8321040" y="1371600"/>
            <a:ext cx="3291840" cy="48920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pic>
        <p:nvPicPr>
          <p:cNvPr id="17" name="Ayush Bhandari icon" descr="Ayush Bhandar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7773" y="1702613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95360" y="1572768"/>
            <a:ext cx="283464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Ayush Bhandari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595360" y="19019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 Integration &amp; Intelligent Automation Lead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595360" y="2560320"/>
            <a:ext cx="2788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service integration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 response generation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Ticket classification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Priority analysis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Sentiment analysis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Confidence assessment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Escalation logic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AI/backend integration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Project Development</a:t>
            </a:r>
            <a:endParaRPr lang="en-US" sz="3400" dirty="0"/>
          </a:p>
        </p:txBody>
      </p:sp>
      <p:sp>
        <p:nvSpPr>
          <p:cNvPr id="5" name="Step 1"/>
          <p:cNvSpPr txBox="1"/>
          <p:nvPr/>
        </p:nvSpPr>
        <p:spPr>
          <a:xfrm>
            <a:off x="548640" y="155067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Structured Planning"/>
          <p:cNvSpPr txBox="1"/>
          <p:nvPr/>
        </p:nvSpPr>
        <p:spPr>
          <a:xfrm>
            <a:off x="1234440" y="1371600"/>
            <a:ext cx="537941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Structured Planning: </a:t>
            </a:r>
            <a:r>
              <a:rPr lang="en-US" sz="1500" dirty="0">
                <a:solidFill>
                  <a:schemeClr val="tx1"/>
                </a:solidFill>
              </a:rPr>
              <a:t>Defined 33 functional requirements, 20 non-functional requirements and UML designs.</a:t>
            </a:r>
            <a:endParaRPr lang="en-US" sz="1500" dirty="0"/>
          </a:p>
        </p:txBody>
      </p:sp>
      <p:sp>
        <p:nvSpPr>
          <p:cNvPr id="7" name="Step 2"/>
          <p:cNvSpPr txBox="1"/>
          <p:nvPr/>
        </p:nvSpPr>
        <p:spPr>
          <a:xfrm>
            <a:off x="548640" y="236601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Parallel Development"/>
          <p:cNvSpPr txBox="1"/>
          <p:nvPr/>
        </p:nvSpPr>
        <p:spPr>
          <a:xfrm>
            <a:off x="1234440" y="2186940"/>
            <a:ext cx="537941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Parallel Development: </a:t>
            </a:r>
            <a:r>
              <a:rPr lang="en-US" sz="1500" dirty="0">
                <a:solidFill>
                  <a:schemeClr val="tx1"/>
                </a:solidFill>
              </a:rPr>
              <a:t>Developed Spring Boot backend, AI integration and React frontend across team responsibilities.</a:t>
            </a:r>
            <a:endParaRPr lang="en-US" sz="1500" dirty="0"/>
          </a:p>
        </p:txBody>
      </p:sp>
      <p:sp>
        <p:nvSpPr>
          <p:cNvPr id="9" name="Step 3"/>
          <p:cNvSpPr txBox="1"/>
          <p:nvPr/>
        </p:nvSpPr>
        <p:spPr>
          <a:xfrm>
            <a:off x="548640" y="318135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0" name="System Integration"/>
          <p:cNvSpPr txBox="1"/>
          <p:nvPr/>
        </p:nvSpPr>
        <p:spPr>
          <a:xfrm>
            <a:off x="1234440" y="3002280"/>
            <a:ext cx="537941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System Integration: </a:t>
            </a:r>
            <a:r>
              <a:rPr lang="en-US" sz="1500" dirty="0">
                <a:solidFill>
                  <a:schemeClr val="tx1"/>
                </a:solidFill>
              </a:rPr>
              <a:t>Connected REST APIs, database, AI processing and role-based interfaces.</a:t>
            </a:r>
            <a:endParaRPr lang="en-US" sz="1500" dirty="0"/>
          </a:p>
        </p:txBody>
      </p:sp>
      <p:sp>
        <p:nvSpPr>
          <p:cNvPr id="11" name="Step 4"/>
          <p:cNvSpPr txBox="1"/>
          <p:nvPr/>
        </p:nvSpPr>
        <p:spPr>
          <a:xfrm>
            <a:off x="548640" y="399669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2" name="Testing &amp; Refinement"/>
          <p:cNvSpPr txBox="1"/>
          <p:nvPr/>
        </p:nvSpPr>
        <p:spPr>
          <a:xfrm>
            <a:off x="1234440" y="3817620"/>
            <a:ext cx="537941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Testing &amp; Refinement: </a:t>
            </a:r>
            <a:r>
              <a:rPr lang="en-US" sz="1500" dirty="0">
                <a:solidFill>
                  <a:schemeClr val="tx1"/>
                </a:solidFill>
              </a:rPr>
              <a:t>Added unit, integration, system and end-to-end tests; resolved integration issues.</a:t>
            </a:r>
            <a:endParaRPr lang="en-US" sz="1500" dirty="0"/>
          </a:p>
        </p:txBody>
      </p:sp>
      <p:sp>
        <p:nvSpPr>
          <p:cNvPr id="13" name="Step 5"/>
          <p:cNvSpPr txBox="1"/>
          <p:nvPr/>
        </p:nvSpPr>
        <p:spPr>
          <a:xfrm>
            <a:off x="548640" y="481203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4" name="Project Tracking"/>
          <p:cNvSpPr txBox="1"/>
          <p:nvPr/>
        </p:nvSpPr>
        <p:spPr>
          <a:xfrm>
            <a:off x="1234440" y="4632960"/>
            <a:ext cx="537941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Project Tracking: </a:t>
            </a:r>
            <a:r>
              <a:rPr lang="en-US" sz="1500" dirty="0">
                <a:solidFill>
                  <a:schemeClr val="tx1"/>
                </a:solidFill>
              </a:rPr>
              <a:t>Used GitHub issues, branches, commits, pull requests and team meetings.</a:t>
            </a:r>
            <a:endParaRPr lang="en-US" sz="1500" dirty="0"/>
          </a:p>
        </p:txBody>
      </p:sp>
      <p:sp>
        <p:nvSpPr>
          <p:cNvPr id="15" name="Step 6"/>
          <p:cNvSpPr txBox="1"/>
          <p:nvPr/>
        </p:nvSpPr>
        <p:spPr>
          <a:xfrm>
            <a:off x="548640" y="562737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16" name="Final Outcome"/>
          <p:cNvSpPr txBox="1"/>
          <p:nvPr/>
        </p:nvSpPr>
        <p:spPr>
          <a:xfrm>
            <a:off x="1234440" y="5448300"/>
            <a:ext cx="537941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Final Outcome: </a:t>
            </a:r>
            <a:r>
              <a:rPr lang="en-US" sz="1500" dirty="0">
                <a:solidFill>
                  <a:schemeClr val="tx1"/>
                </a:solidFill>
              </a:rPr>
              <a:t>Delivered a Dockerised, cloud-deployed prototype supporting CLIENT, AGENT and ADMIN roles.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17" name="Content Placeholder 4">
            <a:extLst>
              <a:ext uri="{FF2B5EF4-FFF2-40B4-BE49-F238E27FC236}">
                <a16:creationId xmlns:a16="http://schemas.microsoft.com/office/drawing/2014/main" id="{1BC49D9D-F224-C93D-8311-9D22C74AA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288" y="556591"/>
            <a:ext cx="5379415" cy="59362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GitHub, Project Management &amp; Technology Stack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Technology Stack</a:t>
            </a:r>
            <a:endParaRPr lang="en-US" sz="2000" dirty="0"/>
          </a:p>
        </p:txBody>
      </p:sp>
      <p:graphicFrame>
        <p:nvGraphicFramePr>
          <p:cNvPr id="10" name="Technology stac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675120" cy="294436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19, Vite, JavaScript, HTML/CSS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21, Spring Boot 4.1.1, REST APIs, Spring Data JPA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Security, JWT, BCrypt, RBAC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(Local/Testing), MySQL 8.4 (Docker/Production)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Integration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API, Structured AI Analysis, Local Fallback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Docker, Docker Compose, Nginx, Microsoft Azure, Cloudflare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PM card"/>
          <p:cNvSpPr/>
          <p:nvPr/>
        </p:nvSpPr>
        <p:spPr>
          <a:xfrm>
            <a:off x="7452360" y="1280160"/>
            <a:ext cx="4187952" cy="365760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6" name="Text 3"/>
          <p:cNvSpPr txBox="1"/>
          <p:nvPr/>
        </p:nvSpPr>
        <p:spPr>
          <a:xfrm>
            <a:off x="7680960" y="14173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Project Management &amp; Collaboration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182880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GitHub: </a:t>
            </a:r>
            <a:r>
              <a:rPr lang="en-US" sz="1400" dirty="0">
                <a:solidFill>
                  <a:schemeClr val="tx1"/>
                </a:solidFill>
              </a:rPr>
              <a:t>Version control, issue tracking, branches and pull requests.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Team Development: </a:t>
            </a:r>
            <a:r>
              <a:rPr lang="en-US" sz="1400" dirty="0">
                <a:solidFill>
                  <a:schemeClr val="tx1"/>
                </a:solidFill>
              </a:rPr>
              <a:t>Separate Backend, AI and Frontend development tracks.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Integration: </a:t>
            </a:r>
            <a:r>
              <a:rPr lang="en-US" sz="1400" dirty="0">
                <a:solidFill>
                  <a:schemeClr val="tx1"/>
                </a:solidFill>
              </a:rPr>
              <a:t>Merged components into main, followed by testing and refactoring.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Progress Tracking: </a:t>
            </a:r>
            <a:r>
              <a:rPr lang="en-US" sz="1400" dirty="0">
                <a:solidFill>
                  <a:schemeClr val="tx1"/>
                </a:solidFill>
              </a:rPr>
              <a:t>154 commits recorded during the reviewed development period and 9 documented team meetings.</a:t>
            </a:r>
            <a:endParaRPr lang="en-US" sz="1400" dirty="0"/>
          </a:p>
        </p:txBody>
      </p:sp>
      <p:sp>
        <p:nvSpPr>
          <p:cNvPr id="8" name="Outcomes banner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868680" y="52303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4"/>
                </a:solidFill>
              </a:rPr>
              <a:t>KEY PROJECT OUTCOMES</a:t>
            </a:r>
            <a:endParaRPr lang="en-US" sz="1100" dirty="0"/>
          </a:p>
        </p:txBody>
      </p:sp>
      <p:sp>
        <p:nvSpPr>
          <p:cNvPr id="4" name="Outcome 1 badge"/>
          <p:cNvSpPr/>
          <p:nvPr/>
        </p:nvSpPr>
        <p:spPr>
          <a:xfrm>
            <a:off x="868680" y="55321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1" name="Outcome 1 icon" descr="Outcom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" y="5630875"/>
            <a:ext cx="168250" cy="16825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546811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Integrated Frontend + Backend + AI + Database.</a:t>
            </a:r>
            <a:endParaRPr lang="en-US" sz="1300" dirty="0"/>
          </a:p>
        </p:txBody>
      </p:sp>
      <p:sp>
        <p:nvSpPr>
          <p:cNvPr id="13" name="Outcome 2 badge"/>
          <p:cNvSpPr/>
          <p:nvPr/>
        </p:nvSpPr>
        <p:spPr>
          <a:xfrm>
            <a:off x="4480560" y="55321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4" name="Outcome 2 icon" descr="Outcom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315" y="5630875"/>
            <a:ext cx="168250" cy="16825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983480" y="546811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Implemented secure workflows for CLIENT, AGENT and ADMIN.</a:t>
            </a:r>
            <a:endParaRPr lang="en-US" sz="1300" dirty="0"/>
          </a:p>
        </p:txBody>
      </p:sp>
      <p:sp>
        <p:nvSpPr>
          <p:cNvPr id="16" name="Outcome 3 badge"/>
          <p:cNvSpPr/>
          <p:nvPr/>
        </p:nvSpPr>
        <p:spPr>
          <a:xfrm>
            <a:off x="8092440" y="55321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7" name="Outcome 3 icon" descr="Outcom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195" y="5630875"/>
            <a:ext cx="168250" cy="16825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595360" y="546811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Developed automated tests and deployed an integrated prototype.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61081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GitHub: </a:t>
            </a:r>
            <a:r>
              <a:rPr lang="en-US" sz="1300" u="sng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https://github.com/prajitabhandari1234/AI-Based-Customer-Support-Automation-System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System Architecture</a:t>
            </a:r>
            <a:endParaRPr lang="en-US" sz="3400" dirty="0"/>
          </a:p>
        </p:txBody>
      </p:sp>
      <p:sp>
        <p:nvSpPr>
          <p:cNvPr id="5" name="React Frontend badge"/>
          <p:cNvSpPr/>
          <p:nvPr/>
        </p:nvSpPr>
        <p:spPr>
          <a:xfrm>
            <a:off x="548640" y="152781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6" name="React Frontend icon" descr="React Fronte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28" y="1663598"/>
            <a:ext cx="231343" cy="231343"/>
          </a:xfrm>
          <a:prstGeom prst="rect">
            <a:avLst/>
          </a:prstGeom>
        </p:spPr>
      </p:pic>
      <p:sp>
        <p:nvSpPr>
          <p:cNvPr id="7" name="React Frontend"/>
          <p:cNvSpPr txBox="1"/>
          <p:nvPr/>
        </p:nvSpPr>
        <p:spPr>
          <a:xfrm>
            <a:off x="1234440" y="1371600"/>
            <a:ext cx="519653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React Frontend: </a:t>
            </a:r>
            <a:r>
              <a:rPr lang="en-US" sz="1500" dirty="0">
                <a:solidFill>
                  <a:schemeClr val="tx1"/>
                </a:solidFill>
              </a:rPr>
              <a:t>Role-based interfaces for CLIENT, AGENT and ADMIN.</a:t>
            </a:r>
            <a:endParaRPr lang="en-US" sz="1500" dirty="0"/>
          </a:p>
        </p:txBody>
      </p:sp>
      <p:sp>
        <p:nvSpPr>
          <p:cNvPr id="8" name="Spring Boot Backend badge"/>
          <p:cNvSpPr/>
          <p:nvPr/>
        </p:nvSpPr>
        <p:spPr>
          <a:xfrm>
            <a:off x="548640" y="234315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9" name="Spring Boot Backend icon" descr="Spring Boot Backe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28" y="2478938"/>
            <a:ext cx="231343" cy="231343"/>
          </a:xfrm>
          <a:prstGeom prst="rect">
            <a:avLst/>
          </a:prstGeom>
        </p:spPr>
      </p:pic>
      <p:sp>
        <p:nvSpPr>
          <p:cNvPr id="10" name="Spring Boot Backend"/>
          <p:cNvSpPr txBox="1"/>
          <p:nvPr/>
        </p:nvSpPr>
        <p:spPr>
          <a:xfrm>
            <a:off x="1234440" y="2186940"/>
            <a:ext cx="519653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Spring Boot Backend: </a:t>
            </a:r>
            <a:r>
              <a:rPr lang="en-US" sz="1500" dirty="0">
                <a:solidFill>
                  <a:schemeClr val="tx1"/>
                </a:solidFill>
              </a:rPr>
              <a:t>REST APIs, controllers and business logic.</a:t>
            </a:r>
            <a:endParaRPr lang="en-US" sz="1500" dirty="0"/>
          </a:p>
        </p:txBody>
      </p:sp>
      <p:sp>
        <p:nvSpPr>
          <p:cNvPr id="11" name="Security badge"/>
          <p:cNvSpPr/>
          <p:nvPr/>
        </p:nvSpPr>
        <p:spPr>
          <a:xfrm>
            <a:off x="548640" y="315849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2" name="Security icon" descr="Securit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428" y="3294278"/>
            <a:ext cx="231343" cy="231343"/>
          </a:xfrm>
          <a:prstGeom prst="rect">
            <a:avLst/>
          </a:prstGeom>
        </p:spPr>
      </p:pic>
      <p:sp>
        <p:nvSpPr>
          <p:cNvPr id="13" name="Security"/>
          <p:cNvSpPr txBox="1"/>
          <p:nvPr/>
        </p:nvSpPr>
        <p:spPr>
          <a:xfrm>
            <a:off x="1234440" y="3002280"/>
            <a:ext cx="519653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Security: </a:t>
            </a:r>
            <a:r>
              <a:rPr lang="en-US" sz="1500" dirty="0">
                <a:solidFill>
                  <a:schemeClr val="tx1"/>
                </a:solidFill>
              </a:rPr>
              <a:t>JWT authentication, BCrypt password hashing and role-based access control (RBAC).</a:t>
            </a:r>
            <a:endParaRPr lang="en-US" sz="1500" dirty="0"/>
          </a:p>
        </p:txBody>
      </p:sp>
      <p:sp>
        <p:nvSpPr>
          <p:cNvPr id="14" name="AI Integration badge"/>
          <p:cNvSpPr/>
          <p:nvPr/>
        </p:nvSpPr>
        <p:spPr>
          <a:xfrm>
            <a:off x="548640" y="397383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5" name="AI Integration icon" descr="AI Integrati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428" y="4109618"/>
            <a:ext cx="231343" cy="231343"/>
          </a:xfrm>
          <a:prstGeom prst="rect">
            <a:avLst/>
          </a:prstGeom>
        </p:spPr>
      </p:pic>
      <p:sp>
        <p:nvSpPr>
          <p:cNvPr id="16" name="AI Integration"/>
          <p:cNvSpPr txBox="1"/>
          <p:nvPr/>
        </p:nvSpPr>
        <p:spPr>
          <a:xfrm>
            <a:off x="1234440" y="3817620"/>
            <a:ext cx="519653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AI Integration: </a:t>
            </a:r>
            <a:r>
              <a:rPr lang="en-US" sz="1500" dirty="0">
                <a:solidFill>
                  <a:schemeClr val="tx1"/>
                </a:solidFill>
              </a:rPr>
              <a:t>OpenAI-powered responses, ticket classification, sentiment analysis, confidence scoring and local fallback.</a:t>
            </a:r>
            <a:endParaRPr lang="en-US" sz="1500" dirty="0"/>
          </a:p>
        </p:txBody>
      </p:sp>
      <p:sp>
        <p:nvSpPr>
          <p:cNvPr id="17" name="Database badge"/>
          <p:cNvSpPr/>
          <p:nvPr/>
        </p:nvSpPr>
        <p:spPr>
          <a:xfrm>
            <a:off x="548640" y="478917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8" name="Database icon" descr="Databas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4428" y="4924958"/>
            <a:ext cx="231343" cy="231343"/>
          </a:xfrm>
          <a:prstGeom prst="rect">
            <a:avLst/>
          </a:prstGeom>
        </p:spPr>
      </p:pic>
      <p:sp>
        <p:nvSpPr>
          <p:cNvPr id="19" name="Database"/>
          <p:cNvSpPr txBox="1"/>
          <p:nvPr/>
        </p:nvSpPr>
        <p:spPr>
          <a:xfrm>
            <a:off x="1234440" y="4632960"/>
            <a:ext cx="519653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Database: </a:t>
            </a:r>
            <a:r>
              <a:rPr lang="en-US" sz="1500" dirty="0">
                <a:solidFill>
                  <a:schemeClr val="tx1"/>
                </a:solidFill>
              </a:rPr>
              <a:t>Spring Data JPA with H2 for local development/testing and MySQL for Docker/production.</a:t>
            </a:r>
            <a:endParaRPr lang="en-US" sz="1500" dirty="0"/>
          </a:p>
        </p:txBody>
      </p:sp>
      <p:sp>
        <p:nvSpPr>
          <p:cNvPr id="20" name="Supporting Services badge"/>
          <p:cNvSpPr/>
          <p:nvPr/>
        </p:nvSpPr>
        <p:spPr>
          <a:xfrm>
            <a:off x="548640" y="560451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21" name="Supporting Services icon" descr="Supporting Service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4428" y="5740298"/>
            <a:ext cx="231343" cy="231343"/>
          </a:xfrm>
          <a:prstGeom prst="rect">
            <a:avLst/>
          </a:prstGeom>
        </p:spPr>
      </p:pic>
      <p:sp>
        <p:nvSpPr>
          <p:cNvPr id="22" name="Supporting Services"/>
          <p:cNvSpPr txBox="1"/>
          <p:nvPr/>
        </p:nvSpPr>
        <p:spPr>
          <a:xfrm>
            <a:off x="1234440" y="5448300"/>
            <a:ext cx="519653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Supporting Services: </a:t>
            </a:r>
            <a:r>
              <a:rPr lang="en-US" sz="1500" dirty="0">
                <a:solidFill>
                  <a:schemeClr val="tx1"/>
                </a:solidFill>
              </a:rPr>
              <a:t>Ticket management, human escalation, notifications, knowledge base, analytics and system logging.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23" name="Content Placeholder 4">
            <a:extLst>
              <a:ext uri="{FF2B5EF4-FFF2-40B4-BE49-F238E27FC236}">
                <a16:creationId xmlns:a16="http://schemas.microsoft.com/office/drawing/2014/main" id="{CCBFF649-D79F-EE2B-A82B-89C6EC47F9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6087" y="1073425"/>
            <a:ext cx="4943061" cy="5103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Database &amp; Domain Model</a:t>
            </a:r>
            <a:endParaRPr lang="en-US" sz="3400" dirty="0"/>
          </a:p>
        </p:txBody>
      </p:sp>
      <p:sp>
        <p:nvSpPr>
          <p:cNvPr id="5" name="7 JPA Entities badge"/>
          <p:cNvSpPr/>
          <p:nvPr/>
        </p:nvSpPr>
        <p:spPr>
          <a:xfrm>
            <a:off x="5852160" y="152781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6" name="7 JPA Entities icon" descr="7 JPA Entit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7948" y="1663598"/>
            <a:ext cx="231343" cy="231343"/>
          </a:xfrm>
          <a:prstGeom prst="rect">
            <a:avLst/>
          </a:prstGeom>
        </p:spPr>
      </p:pic>
      <p:sp>
        <p:nvSpPr>
          <p:cNvPr id="7" name="7 JPA Entities"/>
          <p:cNvSpPr txBox="1"/>
          <p:nvPr/>
        </p:nvSpPr>
        <p:spPr>
          <a:xfrm>
            <a:off x="6537960" y="1371600"/>
            <a:ext cx="510509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JPA Entities: </a:t>
            </a:r>
            <a:r>
              <a:rPr lang="en-US" sz="1500" dirty="0">
                <a:solidFill>
                  <a:schemeClr val="tx1"/>
                </a:solidFill>
              </a:rPr>
              <a:t>User, Conversation, Message, Ticket, KnowledgeBaseEntry, Notification and SystemLog.</a:t>
            </a:r>
            <a:endParaRPr lang="en-US" sz="1500" dirty="0"/>
          </a:p>
        </p:txBody>
      </p:sp>
      <p:sp>
        <p:nvSpPr>
          <p:cNvPr id="8" name="User &amp; Security badge"/>
          <p:cNvSpPr/>
          <p:nvPr/>
        </p:nvSpPr>
        <p:spPr>
          <a:xfrm>
            <a:off x="5852160" y="234315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9" name="User &amp; Security icon" descr="User &amp; Securit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7948" y="2478938"/>
            <a:ext cx="231343" cy="231343"/>
          </a:xfrm>
          <a:prstGeom prst="rect">
            <a:avLst/>
          </a:prstGeom>
        </p:spPr>
      </p:pic>
      <p:sp>
        <p:nvSpPr>
          <p:cNvPr id="10" name="User &amp; Security"/>
          <p:cNvSpPr txBox="1"/>
          <p:nvPr/>
        </p:nvSpPr>
        <p:spPr>
          <a:xfrm>
            <a:off x="6537960" y="2186940"/>
            <a:ext cx="510509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User &amp; Security: </a:t>
            </a:r>
            <a:r>
              <a:rPr lang="en-US" sz="1500" dirty="0">
                <a:solidFill>
                  <a:schemeClr val="tx1"/>
                </a:solidFill>
              </a:rPr>
              <a:t>Stores account information, BCrypt password hashes, roles and account status.</a:t>
            </a:r>
            <a:endParaRPr lang="en-US" sz="1500" dirty="0"/>
          </a:p>
        </p:txBody>
      </p:sp>
      <p:sp>
        <p:nvSpPr>
          <p:cNvPr id="11" name="Conversation History badge"/>
          <p:cNvSpPr/>
          <p:nvPr/>
        </p:nvSpPr>
        <p:spPr>
          <a:xfrm>
            <a:off x="5852160" y="315849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2" name="Conversation History icon" descr="Conversation Histor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7948" y="3294278"/>
            <a:ext cx="231343" cy="231343"/>
          </a:xfrm>
          <a:prstGeom prst="rect">
            <a:avLst/>
          </a:prstGeom>
        </p:spPr>
      </p:pic>
      <p:sp>
        <p:nvSpPr>
          <p:cNvPr id="13" name="Conversation History"/>
          <p:cNvSpPr txBox="1"/>
          <p:nvPr/>
        </p:nvSpPr>
        <p:spPr>
          <a:xfrm>
            <a:off x="6537960" y="3002280"/>
            <a:ext cx="510509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Conversation History: </a:t>
            </a:r>
            <a:r>
              <a:rPr lang="en-US" sz="1500" dirty="0">
                <a:solidFill>
                  <a:schemeClr val="tx1"/>
                </a:solidFill>
              </a:rPr>
              <a:t>Persists customer conversations and messages from clients, AI and support agents.</a:t>
            </a:r>
            <a:endParaRPr lang="en-US" sz="1500" dirty="0"/>
          </a:p>
        </p:txBody>
      </p:sp>
      <p:sp>
        <p:nvSpPr>
          <p:cNvPr id="14" name="Ticket Lifecycle badge"/>
          <p:cNvSpPr/>
          <p:nvPr/>
        </p:nvSpPr>
        <p:spPr>
          <a:xfrm>
            <a:off x="5852160" y="397383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5" name="Ticket Lifecycle icon" descr="Ticket Lifecycl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7948" y="4109618"/>
            <a:ext cx="231343" cy="231343"/>
          </a:xfrm>
          <a:prstGeom prst="rect">
            <a:avLst/>
          </a:prstGeom>
        </p:spPr>
      </p:pic>
      <p:sp>
        <p:nvSpPr>
          <p:cNvPr id="16" name="Ticket Lifecycle"/>
          <p:cNvSpPr txBox="1"/>
          <p:nvPr/>
        </p:nvSpPr>
        <p:spPr>
          <a:xfrm>
            <a:off x="6537960" y="3817620"/>
            <a:ext cx="510509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Ticket Lifecycle: </a:t>
            </a:r>
            <a:r>
              <a:rPr lang="en-US" sz="1500" dirty="0">
                <a:solidFill>
                  <a:schemeClr val="tx1"/>
                </a:solidFill>
              </a:rPr>
              <a:t>Manages category, priority, sentiment, AI confidence, escalation, assigned agent and resolution status.</a:t>
            </a:r>
            <a:endParaRPr lang="en-US" sz="1500" dirty="0"/>
          </a:p>
        </p:txBody>
      </p:sp>
      <p:sp>
        <p:nvSpPr>
          <p:cNvPr id="17" name="Supporting Features badge"/>
          <p:cNvSpPr/>
          <p:nvPr/>
        </p:nvSpPr>
        <p:spPr>
          <a:xfrm>
            <a:off x="5852160" y="478917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8" name="Supporting Features icon" descr="Supporting Featur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7948" y="4924958"/>
            <a:ext cx="231343" cy="231343"/>
          </a:xfrm>
          <a:prstGeom prst="rect">
            <a:avLst/>
          </a:prstGeom>
        </p:spPr>
      </p:pic>
      <p:sp>
        <p:nvSpPr>
          <p:cNvPr id="19" name="Supporting Features"/>
          <p:cNvSpPr txBox="1"/>
          <p:nvPr/>
        </p:nvSpPr>
        <p:spPr>
          <a:xfrm>
            <a:off x="6537960" y="4632960"/>
            <a:ext cx="510509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Supporting Features: </a:t>
            </a:r>
            <a:r>
              <a:rPr lang="en-US" sz="1500" dirty="0">
                <a:solidFill>
                  <a:schemeClr val="tx1"/>
                </a:solidFill>
              </a:rPr>
              <a:t>Knowledge-base records, customer/agent notifications and system activity logs.</a:t>
            </a:r>
            <a:endParaRPr lang="en-US" sz="1500" dirty="0"/>
          </a:p>
        </p:txBody>
      </p:sp>
      <p:sp>
        <p:nvSpPr>
          <p:cNvPr id="20" name="Database Integration badge"/>
          <p:cNvSpPr/>
          <p:nvPr/>
        </p:nvSpPr>
        <p:spPr>
          <a:xfrm>
            <a:off x="5852160" y="560451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21" name="Database Integration icon" descr="Database Integrati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87948" y="5740298"/>
            <a:ext cx="231343" cy="231343"/>
          </a:xfrm>
          <a:prstGeom prst="rect">
            <a:avLst/>
          </a:prstGeom>
        </p:spPr>
      </p:pic>
      <p:sp>
        <p:nvSpPr>
          <p:cNvPr id="22" name="Database Integration"/>
          <p:cNvSpPr txBox="1"/>
          <p:nvPr/>
        </p:nvSpPr>
        <p:spPr>
          <a:xfrm>
            <a:off x="6537960" y="5448300"/>
            <a:ext cx="5105095" cy="81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Database Integration: </a:t>
            </a:r>
            <a:r>
              <a:rPr lang="en-US" sz="1500" dirty="0">
                <a:solidFill>
                  <a:schemeClr val="tx1"/>
                </a:solidFill>
              </a:rPr>
              <a:t>Spring Data JPA repositories with H2 for local development/testing and MySQL for Docker/production.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23" name="Content Placeholder 4">
            <a:extLst>
              <a:ext uri="{FF2B5EF4-FFF2-40B4-BE49-F238E27FC236}">
                <a16:creationId xmlns:a16="http://schemas.microsoft.com/office/drawing/2014/main" id="{5C21A007-16B2-4DAA-6BCB-A333EFF3084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7809" y="1258957"/>
            <a:ext cx="5088834" cy="50046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End-to-End Customer Support Workflow</a:t>
            </a:r>
            <a:endParaRPr lang="en-US" sz="3400" dirty="0"/>
          </a:p>
        </p:txBody>
      </p:sp>
      <p:sp>
        <p:nvSpPr>
          <p:cNvPr id="5" name="Step 1"/>
          <p:cNvSpPr txBox="1"/>
          <p:nvPr/>
        </p:nvSpPr>
        <p:spPr>
          <a:xfrm>
            <a:off x="548640" y="163220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Customer Interaction"/>
          <p:cNvSpPr txBox="1"/>
          <p:nvPr/>
        </p:nvSpPr>
        <p:spPr>
          <a:xfrm>
            <a:off x="1234440" y="1371600"/>
            <a:ext cx="5836615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Customer Interaction: </a:t>
            </a:r>
            <a:r>
              <a:rPr lang="en-US" sz="1500" dirty="0">
                <a:solidFill>
                  <a:schemeClr val="tx1"/>
                </a:solidFill>
              </a:rPr>
              <a:t>The client submits a support enquiry through the React chat interface.</a:t>
            </a:r>
            <a:endParaRPr lang="en-US" sz="1500" dirty="0"/>
          </a:p>
        </p:txBody>
      </p:sp>
      <p:sp>
        <p:nvSpPr>
          <p:cNvPr id="7" name="Step 2"/>
          <p:cNvSpPr txBox="1"/>
          <p:nvPr/>
        </p:nvSpPr>
        <p:spPr>
          <a:xfrm>
            <a:off x="548640" y="2610612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Knowledge Base"/>
          <p:cNvSpPr txBox="1"/>
          <p:nvPr/>
        </p:nvSpPr>
        <p:spPr>
          <a:xfrm>
            <a:off x="1234440" y="2350008"/>
            <a:ext cx="5836615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Knowledge Base: </a:t>
            </a:r>
            <a:r>
              <a:rPr lang="en-US" sz="1500" dirty="0">
                <a:solidFill>
                  <a:schemeClr val="tx1"/>
                </a:solidFill>
              </a:rPr>
              <a:t>The backend checks for a matching knowledge-base answer before using external AI.</a:t>
            </a:r>
            <a:endParaRPr lang="en-US" sz="1500" dirty="0"/>
          </a:p>
        </p:txBody>
      </p:sp>
      <p:sp>
        <p:nvSpPr>
          <p:cNvPr id="9" name="Step 3"/>
          <p:cNvSpPr txBox="1"/>
          <p:nvPr/>
        </p:nvSpPr>
        <p:spPr>
          <a:xfrm>
            <a:off x="548640" y="35890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0" name="AI Processing"/>
          <p:cNvSpPr txBox="1"/>
          <p:nvPr/>
        </p:nvSpPr>
        <p:spPr>
          <a:xfrm>
            <a:off x="1234440" y="3328416"/>
            <a:ext cx="5836615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AI Processing: </a:t>
            </a:r>
            <a:r>
              <a:rPr lang="en-US" sz="1500" dirty="0">
                <a:solidFill>
                  <a:schemeClr val="tx1"/>
                </a:solidFill>
              </a:rPr>
              <a:t>The system generates a response and analyses category, priority, sentiment and confidence.</a:t>
            </a:r>
            <a:endParaRPr lang="en-US" sz="1500" dirty="0"/>
          </a:p>
        </p:txBody>
      </p:sp>
      <p:sp>
        <p:nvSpPr>
          <p:cNvPr id="11" name="Step 4"/>
          <p:cNvSpPr txBox="1"/>
          <p:nvPr/>
        </p:nvSpPr>
        <p:spPr>
          <a:xfrm>
            <a:off x="548640" y="456742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2" name="Intelligent Escalation"/>
          <p:cNvSpPr txBox="1"/>
          <p:nvPr/>
        </p:nvSpPr>
        <p:spPr>
          <a:xfrm>
            <a:off x="1234440" y="4306824"/>
            <a:ext cx="5836615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Intelligent Escalation: </a:t>
            </a:r>
            <a:r>
              <a:rPr lang="en-US" sz="1500" dirty="0">
                <a:solidFill>
                  <a:schemeClr val="tx1"/>
                </a:solidFill>
              </a:rPr>
              <a:t>Business rules determine when a ticket requires human-agent assistance.</a:t>
            </a:r>
            <a:endParaRPr lang="en-US" sz="1500" dirty="0"/>
          </a:p>
        </p:txBody>
      </p:sp>
      <p:sp>
        <p:nvSpPr>
          <p:cNvPr id="13" name="Step 5"/>
          <p:cNvSpPr txBox="1"/>
          <p:nvPr/>
        </p:nvSpPr>
        <p:spPr>
          <a:xfrm>
            <a:off x="548640" y="554583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4" name="Persistent Support Workflow"/>
          <p:cNvSpPr txBox="1"/>
          <p:nvPr/>
        </p:nvSpPr>
        <p:spPr>
          <a:xfrm>
            <a:off x="1234440" y="5285232"/>
            <a:ext cx="5836615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Persistent Support Workflow: </a:t>
            </a:r>
            <a:r>
              <a:rPr lang="en-US" sz="1500" dirty="0">
                <a:solidFill>
                  <a:schemeClr val="tx1"/>
                </a:solidFill>
              </a:rPr>
              <a:t>Conversations, messages, tickets and escalation details are stored for tracking and follow-up.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15" name="Content Placeholder 8">
            <a:extLst>
              <a:ext uri="{FF2B5EF4-FFF2-40B4-BE49-F238E27FC236}">
                <a16:creationId xmlns:a16="http://schemas.microsoft.com/office/drawing/2014/main" id="{EFBEFE58-C0E9-CE03-6582-BC77D493D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0888" y="1143001"/>
            <a:ext cx="4982816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AI Integration, Security &amp; Access Control</a:t>
            </a:r>
            <a:endParaRPr lang="en-US" sz="3400" dirty="0"/>
          </a:p>
        </p:txBody>
      </p:sp>
      <p:sp>
        <p:nvSpPr>
          <p:cNvPr id="3" name="AI card"/>
          <p:cNvSpPr/>
          <p:nvPr/>
        </p:nvSpPr>
        <p:spPr>
          <a:xfrm>
            <a:off x="548640" y="1371600"/>
            <a:ext cx="5410048" cy="3931920"/>
          </a:xfrm>
          <a:prstGeom prst="roundRect">
            <a:avLst>
              <a:gd name="adj" fmla="val 2326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" name="AI decision support badge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5" name="AI decision support icon" descr="AI decision suppo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1690268"/>
            <a:ext cx="231343" cy="231343"/>
          </a:xfrm>
          <a:prstGeom prst="rect">
            <a:avLst/>
          </a:prstGeom>
        </p:spPr>
      </p:pic>
      <p:sp>
        <p:nvSpPr>
          <p:cNvPr id="6" name="AI decision support heading"/>
          <p:cNvSpPr txBox="1"/>
          <p:nvPr/>
        </p:nvSpPr>
        <p:spPr>
          <a:xfrm>
            <a:off x="1508760" y="1554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AI-Powered Decision Support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486140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Response Generation: </a:t>
            </a:r>
            <a:r>
              <a:rPr lang="en-US" sz="1500" dirty="0">
                <a:solidFill>
                  <a:schemeClr val="tx1"/>
                </a:solidFill>
              </a:rPr>
              <a:t>Provides AI-assisted customer support.</a:t>
            </a:r>
            <a:endParaRPr lang="en-US" sz="15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Classification &amp; Priority: </a:t>
            </a:r>
            <a:r>
              <a:rPr lang="en-US" sz="1500" dirty="0">
                <a:solidFill>
                  <a:schemeClr val="tx1"/>
                </a:solidFill>
              </a:rPr>
              <a:t>Identifies ticket category and urgency.</a:t>
            </a:r>
            <a:endParaRPr lang="en-US" sz="15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Sentiment &amp; Confidence: </a:t>
            </a:r>
            <a:r>
              <a:rPr lang="en-US" sz="1500" dirty="0">
                <a:solidFill>
                  <a:schemeClr val="tx1"/>
                </a:solidFill>
              </a:rPr>
              <a:t>Analyses customer sentiment and AI confidence.</a:t>
            </a:r>
            <a:endParaRPr lang="en-US" sz="15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Intelligent Escalation: </a:t>
            </a:r>
            <a:r>
              <a:rPr lang="en-US" sz="1500" dirty="0">
                <a:solidFill>
                  <a:schemeClr val="tx1"/>
                </a:solidFill>
              </a:rPr>
              <a:t>Uses business rules to identify cases requiring human support.</a:t>
            </a:r>
            <a:endParaRPr lang="en-US" sz="15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Human-in-the-Loop: </a:t>
            </a:r>
            <a:r>
              <a:rPr lang="en-US" sz="1500" dirty="0">
                <a:solidFill>
                  <a:schemeClr val="tx1"/>
                </a:solidFill>
              </a:rPr>
              <a:t>Agents manage escalated tickets and resolutions.</a:t>
            </a:r>
            <a:endParaRPr lang="en-US" sz="1500" dirty="0"/>
          </a:p>
        </p:txBody>
      </p:sp>
      <p:sp>
        <p:nvSpPr>
          <p:cNvPr id="8" name="Security card"/>
          <p:cNvSpPr/>
          <p:nvPr/>
        </p:nvSpPr>
        <p:spPr>
          <a:xfrm>
            <a:off x="6233008" y="1371600"/>
            <a:ext cx="5410048" cy="3931920"/>
          </a:xfrm>
          <a:prstGeom prst="roundRect">
            <a:avLst>
              <a:gd name="adj" fmla="val 2326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9" name="Security &amp; access badge"/>
          <p:cNvSpPr/>
          <p:nvPr/>
        </p:nvSpPr>
        <p:spPr>
          <a:xfrm>
            <a:off x="6507328" y="15544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0" name="Security &amp; access icon" descr="Security &amp; acces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690268"/>
            <a:ext cx="231343" cy="231343"/>
          </a:xfrm>
          <a:prstGeom prst="rect">
            <a:avLst/>
          </a:prstGeom>
        </p:spPr>
      </p:pic>
      <p:sp>
        <p:nvSpPr>
          <p:cNvPr id="11" name="Security &amp;amp; access heading"/>
          <p:cNvSpPr txBox="1"/>
          <p:nvPr/>
        </p:nvSpPr>
        <p:spPr>
          <a:xfrm>
            <a:off x="7193128" y="1554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Security &amp; Access Control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331720"/>
            <a:ext cx="486140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Authentication: </a:t>
            </a:r>
            <a:r>
              <a:rPr lang="en-US" sz="1500" dirty="0">
                <a:solidFill>
                  <a:schemeClr val="tx1"/>
                </a:solidFill>
              </a:rPr>
              <a:t>JWT-based login and BCrypt password hashing.</a:t>
            </a:r>
            <a:endParaRPr lang="en-US" sz="15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Role-Based Access: </a:t>
            </a:r>
            <a:r>
              <a:rPr lang="en-US" sz="1500" dirty="0">
                <a:solidFill>
                  <a:schemeClr val="tx1"/>
                </a:solidFill>
              </a:rPr>
              <a:t>CLIENT, AGENT and ADMIN permissions.</a:t>
            </a:r>
            <a:endParaRPr lang="en-US" sz="15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Data Protection: </a:t>
            </a:r>
            <a:r>
              <a:rPr lang="en-US" sz="1500" dirty="0">
                <a:solidFill>
                  <a:schemeClr val="tx1"/>
                </a:solidFill>
              </a:rPr>
              <a:t>Resource ownership checks and protected REST APIs.</a:t>
            </a:r>
            <a:endParaRPr lang="en-US" sz="15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Input Security: </a:t>
            </a:r>
            <a:r>
              <a:rPr lang="en-US" sz="1500" dirty="0">
                <a:solidFill>
                  <a:schemeClr val="tx1"/>
                </a:solidFill>
              </a:rPr>
              <a:t>Request validation and centralised exception handling.</a:t>
            </a:r>
            <a:endParaRPr lang="en-US" sz="15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Monitoring: </a:t>
            </a:r>
            <a:r>
              <a:rPr lang="en-US" sz="1500" dirty="0">
                <a:solidFill>
                  <a:schemeClr val="tx1"/>
                </a:solidFill>
              </a:rPr>
              <a:t>Configurable CORS and system activity logging.</a:t>
            </a:r>
            <a:endParaRPr lang="en-US" sz="1500" dirty="0"/>
          </a:p>
        </p:txBody>
      </p:sp>
      <p:sp>
        <p:nvSpPr>
          <p:cNvPr id="13" name="Summary banner"/>
          <p:cNvSpPr/>
          <p:nvPr/>
        </p:nvSpPr>
        <p:spPr>
          <a:xfrm>
            <a:off x="548640" y="5486400"/>
            <a:ext cx="11094415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4" name="Text 10"/>
          <p:cNvSpPr txBox="1"/>
          <p:nvPr/>
        </p:nvSpPr>
        <p:spPr>
          <a:xfrm>
            <a:off x="868680" y="548640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AI supports intelligent customer-service decisions, while role-based security protects users, data and administrative operations.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Live Demonstration: Client</a:t>
            </a:r>
            <a:endParaRPr lang="en-US" sz="3400" dirty="0"/>
          </a:p>
        </p:txBody>
      </p:sp>
      <p:sp>
        <p:nvSpPr>
          <p:cNvPr id="3" name="Client workflow card"/>
          <p:cNvSpPr/>
          <p:nvPr/>
        </p:nvSpPr>
        <p:spPr>
          <a:xfrm>
            <a:off x="548640" y="1371600"/>
            <a:ext cx="4023360" cy="4892040"/>
          </a:xfrm>
          <a:prstGeom prst="roundRect">
            <a:avLst>
              <a:gd name="adj" fmla="val 2273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" name="Client workflow badge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5" name="Client workflow icon" descr="Client workfl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1690268"/>
            <a:ext cx="231343" cy="231343"/>
          </a:xfrm>
          <a:prstGeom prst="rect">
            <a:avLst/>
          </a:prstGeom>
        </p:spPr>
      </p:pic>
      <p:sp>
        <p:nvSpPr>
          <p:cNvPr id="6" name="Client workflow heading"/>
          <p:cNvSpPr txBox="1"/>
          <p:nvPr/>
        </p:nvSpPr>
        <p:spPr>
          <a:xfrm>
            <a:off x="1508760" y="1554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Client Workflow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During the live demonstration we will show: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Client registration/login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AI-assisted chat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 response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Ticket creation/escalation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Customer ticket list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Ticket details/status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Conversation history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Agent response visible to the customer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pic>
        <p:nvPicPr>
          <p:cNvPr id="11" name="Content Placeholder 5">
            <a:extLst>
              <a:ext uri="{FF2B5EF4-FFF2-40B4-BE49-F238E27FC236}">
                <a16:creationId xmlns:a16="http://schemas.microsoft.com/office/drawing/2014/main" id="{6BEB5E5A-5BB7-E9FF-1FEA-9B4E72B9C8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71600"/>
            <a:ext cx="7142922" cy="459084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Live Demonstration: Support Agent</a:t>
            </a:r>
            <a:endParaRPr lang="en-US" sz="3400" dirty="0"/>
          </a:p>
        </p:txBody>
      </p:sp>
      <p:sp>
        <p:nvSpPr>
          <p:cNvPr id="5" name="Agent workflow card"/>
          <p:cNvSpPr/>
          <p:nvPr/>
        </p:nvSpPr>
        <p:spPr>
          <a:xfrm>
            <a:off x="7616952" y="1371600"/>
            <a:ext cx="4023360" cy="4892040"/>
          </a:xfrm>
          <a:prstGeom prst="roundRect">
            <a:avLst>
              <a:gd name="adj" fmla="val 2273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6" name="Agent workflow badge"/>
          <p:cNvSpPr/>
          <p:nvPr/>
        </p:nvSpPr>
        <p:spPr>
          <a:xfrm>
            <a:off x="7891272" y="15544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7" name="Agent workflow icon" descr="Agent workfl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7060" y="1690268"/>
            <a:ext cx="231343" cy="231343"/>
          </a:xfrm>
          <a:prstGeom prst="rect">
            <a:avLst/>
          </a:prstGeom>
        </p:spPr>
      </p:pic>
      <p:sp>
        <p:nvSpPr>
          <p:cNvPr id="8" name="Agent workflow heading"/>
          <p:cNvSpPr txBox="1"/>
          <p:nvPr/>
        </p:nvSpPr>
        <p:spPr>
          <a:xfrm>
            <a:off x="8577072" y="1554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Agent Workflow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891272" y="2286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After the customer issue is escalated: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288036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Agent logs in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Opens escalated ticket queue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Reviews ticket details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Reviews customer conversation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Assigns the ticket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Responds to the customer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Updates ticket status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Resolves the issue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BB6AF832-B0AC-0B37-8B7D-3B87AD9373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026" y="1371600"/>
            <a:ext cx="7063409" cy="45123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Live Demonstration: Administrator</a:t>
            </a:r>
            <a:endParaRPr lang="en-US" sz="3400" dirty="0"/>
          </a:p>
        </p:txBody>
      </p:sp>
      <p:sp>
        <p:nvSpPr>
          <p:cNvPr id="3" name="Admin workflow card"/>
          <p:cNvSpPr/>
          <p:nvPr/>
        </p:nvSpPr>
        <p:spPr>
          <a:xfrm>
            <a:off x="548640" y="1371600"/>
            <a:ext cx="3611880" cy="4892040"/>
          </a:xfrm>
          <a:prstGeom prst="roundRect">
            <a:avLst>
              <a:gd name="adj" fmla="val 2532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" name="Admin workflow badge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5" name="Admin workflow icon" descr="Admin workfl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1690268"/>
            <a:ext cx="231343" cy="231343"/>
          </a:xfrm>
          <a:prstGeom prst="rect">
            <a:avLst/>
          </a:prstGeom>
        </p:spPr>
      </p:pic>
      <p:sp>
        <p:nvSpPr>
          <p:cNvPr id="6" name="Admin workflow heading"/>
          <p:cNvSpPr txBox="1"/>
          <p:nvPr/>
        </p:nvSpPr>
        <p:spPr>
          <a:xfrm>
            <a:off x="1508760" y="1554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Admin Workflow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The Admin interface provides: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517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User Management</a:t>
            </a:r>
            <a:endParaRPr lang="en-US" sz="14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AU" sz="1400" dirty="0"/>
              <a:t>View users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AU" sz="1400" dirty="0"/>
              <a:t>Create users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AU" sz="1400" dirty="0"/>
              <a:t>Update roles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AU" sz="1400" dirty="0"/>
              <a:t>Manage account status</a:t>
            </a:r>
          </a:p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Knowledge Base</a:t>
            </a:r>
            <a:endParaRPr lang="en-US" sz="14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AU" sz="1400" dirty="0"/>
              <a:t>Create entries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AU" sz="1400" dirty="0"/>
              <a:t>Update entries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AU" sz="1400" dirty="0"/>
              <a:t>Delete entries</a:t>
            </a:r>
          </a:p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Analytics</a:t>
            </a:r>
            <a:endParaRPr lang="en-US" sz="14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AU" sz="1400" dirty="0"/>
              <a:t>Ticket statistics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AU" sz="1400" dirty="0"/>
              <a:t>Escalation information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AU" sz="1400" dirty="0"/>
              <a:t>Support metrics</a:t>
            </a:r>
          </a:p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System Logs</a:t>
            </a:r>
            <a:endParaRPr lang="en-US" sz="14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AU" sz="1400" dirty="0"/>
              <a:t>Review important application activities</a:t>
            </a:r>
          </a:p>
        </p:txBody>
      </p:sp>
      <p:pic>
        <p:nvPicPr>
          <p:cNvPr id="10" name="Ticket Queue screenshot" descr="Ticket Queue screensho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508760"/>
            <a:ext cx="3282696" cy="157036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3188849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Ticket Queue</a:t>
            </a:r>
            <a:endParaRPr lang="en-US" sz="1200" dirty="0"/>
          </a:p>
        </p:txBody>
      </p:sp>
      <p:pic>
        <p:nvPicPr>
          <p:cNvPr id="13" name="Analytics screenshot" descr="Analytics screensho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0456" y="1508760"/>
            <a:ext cx="3282696" cy="156705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220456" y="3185543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Analytics</a:t>
            </a:r>
            <a:endParaRPr lang="en-US" sz="1200" dirty="0"/>
          </a:p>
        </p:txBody>
      </p:sp>
      <p:pic>
        <p:nvPicPr>
          <p:cNvPr id="16" name="User Management screenshot" descr="User Management screensh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4069080"/>
            <a:ext cx="3282696" cy="157486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572000" y="5753673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User Management</a:t>
            </a:r>
            <a:endParaRPr lang="en-US" sz="1200" dirty="0"/>
          </a:p>
        </p:txBody>
      </p:sp>
      <p:pic>
        <p:nvPicPr>
          <p:cNvPr id="19" name="System Logs screenshot" descr="System Logs screensho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0456" y="4069080"/>
            <a:ext cx="3282696" cy="156991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220456" y="5748718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System Logs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Testing &amp; Verification</a:t>
            </a:r>
            <a:endParaRPr lang="en-US" sz="3400" dirty="0"/>
          </a:p>
        </p:txBody>
      </p:sp>
      <p:sp>
        <p:nvSpPr>
          <p:cNvPr id="3" name="Backend testing card"/>
          <p:cNvSpPr/>
          <p:nvPr/>
        </p:nvSpPr>
        <p:spPr>
          <a:xfrm>
            <a:off x="548640" y="1371600"/>
            <a:ext cx="5760720" cy="4892040"/>
          </a:xfrm>
          <a:prstGeom prst="roundRect">
            <a:avLst>
              <a:gd name="adj" fmla="val 1869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" name="Backend testing badge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5" name="Backend testing icon" descr="Backend test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1690268"/>
            <a:ext cx="231343" cy="231343"/>
          </a:xfrm>
          <a:prstGeom prst="rect">
            <a:avLst/>
          </a:prstGeom>
        </p:spPr>
      </p:pic>
      <p:sp>
        <p:nvSpPr>
          <p:cNvPr id="6" name="Backend testing heading"/>
          <p:cNvSpPr txBox="1"/>
          <p:nvPr/>
        </p:nvSpPr>
        <p:spPr>
          <a:xfrm>
            <a:off x="1508760" y="1554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Backend Testing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project includes automated tests covering: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34640"/>
            <a:ext cx="256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Authentication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JWT security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Role-Based Access Control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Customer ticket workflows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Customer chat workflows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474720" y="2834640"/>
            <a:ext cx="2651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 decision integration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Agent/Admin workflows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API errors and CRUD behaviour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Validation</a:t>
            </a:r>
            <a:endParaRPr lang="en-US" sz="16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 fallback/resilience</a:t>
            </a:r>
            <a:endParaRPr lang="en-US" sz="1600" dirty="0"/>
          </a:p>
        </p:txBody>
      </p:sp>
      <p:sp>
        <p:nvSpPr>
          <p:cNvPr id="10" name="Frontend testing card"/>
          <p:cNvSpPr/>
          <p:nvPr/>
        </p:nvSpPr>
        <p:spPr>
          <a:xfrm>
            <a:off x="6537960" y="1371600"/>
            <a:ext cx="5102352" cy="260604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1" name="Frontend testing badge"/>
          <p:cNvSpPr/>
          <p:nvPr/>
        </p:nvSpPr>
        <p:spPr>
          <a:xfrm>
            <a:off x="6812280" y="15087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2" name="Frontend testing icon" descr="Frontend test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068" y="1644548"/>
            <a:ext cx="231343" cy="231343"/>
          </a:xfrm>
          <a:prstGeom prst="rect">
            <a:avLst/>
          </a:prstGeom>
        </p:spPr>
      </p:pic>
      <p:sp>
        <p:nvSpPr>
          <p:cNvPr id="13" name="Frontend testing heading"/>
          <p:cNvSpPr txBox="1"/>
          <p:nvPr/>
        </p:nvSpPr>
        <p:spPr>
          <a:xfrm>
            <a:off x="7498080" y="1508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Frontend Testing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2148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Frontend testing covers: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812280" y="2487168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API client behaviour</a:t>
            </a:r>
            <a:endParaRPr lang="en-US" sz="16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Components</a:t>
            </a:r>
            <a:endParaRPr lang="en-US" sz="16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Data normalisation</a:t>
            </a:r>
            <a:endParaRPr lang="en-US" sz="16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Integration behaviour</a:t>
            </a:r>
            <a:endParaRPr lang="en-US" sz="16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Formatting utilities</a:t>
            </a:r>
            <a:endParaRPr lang="en-US" sz="1600" dirty="0"/>
          </a:p>
        </p:txBody>
      </p:sp>
      <p:sp>
        <p:nvSpPr>
          <p:cNvPr id="16" name="Additional testing card"/>
          <p:cNvSpPr/>
          <p:nvPr/>
        </p:nvSpPr>
        <p:spPr>
          <a:xfrm>
            <a:off x="6537960" y="4160520"/>
            <a:ext cx="5102352" cy="2103120"/>
          </a:xfrm>
          <a:prstGeom prst="roundRect">
            <a:avLst>
              <a:gd name="adj" fmla="val 4348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7" name="Additional testing badge"/>
          <p:cNvSpPr/>
          <p:nvPr/>
        </p:nvSpPr>
        <p:spPr>
          <a:xfrm>
            <a:off x="6812280" y="42976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8" name="Additional testing icon" descr="Additional tes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8068" y="4433468"/>
            <a:ext cx="231343" cy="231343"/>
          </a:xfrm>
          <a:prstGeom prst="rect">
            <a:avLst/>
          </a:prstGeom>
        </p:spPr>
      </p:pic>
      <p:sp>
        <p:nvSpPr>
          <p:cNvPr id="19" name="Additional testing heading"/>
          <p:cNvSpPr txBox="1"/>
          <p:nvPr/>
        </p:nvSpPr>
        <p:spPr>
          <a:xfrm>
            <a:off x="7498080" y="4297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Additional Testing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6812280" y="493776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Integration testing</a:t>
            </a:r>
            <a:endParaRPr lang="en-US" sz="16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System testing</a:t>
            </a:r>
            <a:endParaRPr lang="en-US" sz="16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End-to-end workflow testing</a:t>
            </a:r>
            <a:endParaRPr lang="en-US" sz="1600" dirty="0"/>
          </a:p>
          <a:p>
            <a:pPr marL="203200" indent="-2032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Performance-testing assets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Deployment</a:t>
            </a:r>
            <a:endParaRPr lang="en-US" sz="3400" dirty="0"/>
          </a:p>
        </p:txBody>
      </p:sp>
      <p:sp>
        <p:nvSpPr>
          <p:cNvPr id="3" name="Local Development badge"/>
          <p:cNvSpPr/>
          <p:nvPr/>
        </p:nvSpPr>
        <p:spPr>
          <a:xfrm>
            <a:off x="548640" y="1481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4" name="Local Development icon" descr="Local Develop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" y="1604772"/>
            <a:ext cx="210312" cy="2103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3716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Local Development: </a:t>
            </a:r>
            <a:r>
              <a:rPr lang="en-US" sz="1500" dirty="0">
                <a:solidFill>
                  <a:schemeClr val="tx1"/>
                </a:solidFill>
              </a:rPr>
              <a:t>React frontend, Spring Boot REST API and H2 database.</a:t>
            </a:r>
            <a:endParaRPr lang="en-US" sz="1500" dirty="0"/>
          </a:p>
        </p:txBody>
      </p:sp>
      <p:sp>
        <p:nvSpPr>
          <p:cNvPr id="6" name="Docker Containerisation badge"/>
          <p:cNvSpPr/>
          <p:nvPr/>
        </p:nvSpPr>
        <p:spPr>
          <a:xfrm>
            <a:off x="548640" y="221284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7" name="Docker Containerisation icon" descr="Docker Containerisa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" y="2336292"/>
            <a:ext cx="210312" cy="21031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2103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Docker Containerisation: </a:t>
            </a:r>
            <a:r>
              <a:rPr lang="en-US" sz="1500" dirty="0">
                <a:solidFill>
                  <a:schemeClr val="tx1"/>
                </a:solidFill>
              </a:rPr>
              <a:t>Docker Compose integrates React/Nginx, Spring Boot and MySQL services.</a:t>
            </a:r>
            <a:endParaRPr lang="en-US" sz="1500" dirty="0"/>
          </a:p>
        </p:txBody>
      </p:sp>
      <p:sp>
        <p:nvSpPr>
          <p:cNvPr id="9" name="Azure Cloud Hosting badge"/>
          <p:cNvSpPr/>
          <p:nvPr/>
        </p:nvSpPr>
        <p:spPr>
          <a:xfrm>
            <a:off x="548640" y="29443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0" name="Azure Cloud Hosting icon" descr="Azure Cloud Hos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" y="3067812"/>
            <a:ext cx="210312" cy="21031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Azure Cloud Hosting: </a:t>
            </a:r>
            <a:r>
              <a:rPr lang="en-US" sz="1500" dirty="0">
                <a:solidFill>
                  <a:schemeClr val="tx1"/>
                </a:solidFill>
              </a:rPr>
              <a:t>Frontend and backend deployed as separate Azure Container Apps.</a:t>
            </a:r>
            <a:endParaRPr lang="en-US" sz="1500" dirty="0"/>
          </a:p>
        </p:txBody>
      </p:sp>
      <p:sp>
        <p:nvSpPr>
          <p:cNvPr id="12" name="Database &amp; AI Integration badge"/>
          <p:cNvSpPr/>
          <p:nvPr/>
        </p:nvSpPr>
        <p:spPr>
          <a:xfrm>
            <a:off x="548640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3" name="Database &amp; AI Integration icon" descr="Database &amp; AI Integrati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" y="3799332"/>
            <a:ext cx="210312" cy="21031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35661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Database &amp; AI Integration: </a:t>
            </a:r>
            <a:r>
              <a:rPr lang="en-US" sz="1500" dirty="0">
                <a:solidFill>
                  <a:schemeClr val="tx1"/>
                </a:solidFill>
              </a:rPr>
              <a:t>Azure Database for MySQL provides persistent storage; the backend supports optional OpenAI API integration.</a:t>
            </a:r>
            <a:endParaRPr lang="en-US" sz="1500" dirty="0"/>
          </a:p>
        </p:txBody>
      </p:sp>
      <p:sp>
        <p:nvSpPr>
          <p:cNvPr id="15" name="Public Access &amp; Routing badge"/>
          <p:cNvSpPr/>
          <p:nvPr/>
        </p:nvSpPr>
        <p:spPr>
          <a:xfrm>
            <a:off x="548640" y="44074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6" name="Public Access &amp; Routing icon" descr="Public Access &amp; Routi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84" y="4530852"/>
            <a:ext cx="210312" cy="21031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88720" y="42976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Public Access &amp; Routing: </a:t>
            </a:r>
            <a:r>
              <a:rPr lang="en-US" sz="1500" dirty="0">
                <a:solidFill>
                  <a:schemeClr val="tx1"/>
                </a:solidFill>
              </a:rPr>
              <a:t>Cloudflare provides the public application entry point, with Nginx proxying API requests to the backend.</a:t>
            </a:r>
            <a:endParaRPr lang="en-US" sz="1500" dirty="0"/>
          </a:p>
        </p:txBody>
      </p:sp>
      <p:sp>
        <p:nvSpPr>
          <p:cNvPr id="20" name="Link row"/>
          <p:cNvSpPr/>
          <p:nvPr/>
        </p:nvSpPr>
        <p:spPr>
          <a:xfrm>
            <a:off x="548640" y="5212080"/>
            <a:ext cx="6583680" cy="45720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21" name="Text 13"/>
          <p:cNvSpPr txBox="1"/>
          <p:nvPr/>
        </p:nvSpPr>
        <p:spPr>
          <a:xfrm>
            <a:off x="777240" y="52120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Deployment Link:  </a:t>
            </a:r>
            <a:r>
              <a:rPr lang="en-US" sz="1600" u="sng" dirty="0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https://app.aics-050.workers.dev/login</a:t>
            </a:r>
            <a:endParaRPr lang="en-US" sz="1600" dirty="0"/>
          </a:p>
        </p:txBody>
      </p:sp>
      <p:sp>
        <p:nvSpPr>
          <p:cNvPr id="22" name="Benefit banner"/>
          <p:cNvSpPr/>
          <p:nvPr/>
        </p:nvSpPr>
        <p:spPr>
          <a:xfrm>
            <a:off x="548640" y="5760720"/>
            <a:ext cx="1109441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23" name="Text 15"/>
          <p:cNvSpPr txBox="1"/>
          <p:nvPr/>
        </p:nvSpPr>
        <p:spPr>
          <a:xfrm>
            <a:off x="822960" y="5760720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DEPLOYMENT BENEFIT   </a:t>
            </a:r>
            <a:r>
              <a:rPr lang="en-US" sz="1300" dirty="0">
                <a:solidFill>
                  <a:schemeClr val="bg1"/>
                </a:solidFill>
              </a:rPr>
              <a:t>Containerisation provides consistent environments, while Azure and Cloudflare enable cloud hosting and public application access.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pic>
        <p:nvPicPr>
          <p:cNvPr id="24" name="Content Placeholder 4">
            <a:extLst>
              <a:ext uri="{FF2B5EF4-FFF2-40B4-BE49-F238E27FC236}">
                <a16:creationId xmlns:a16="http://schemas.microsoft.com/office/drawing/2014/main" id="{02314BC9-FF20-9E6C-0511-A2F424102F1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1703" y="877970"/>
            <a:ext cx="4850297" cy="451699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Challenges &amp; Lessons Learned</a:t>
            </a:r>
            <a:endParaRPr lang="en-US" sz="3400" dirty="0"/>
          </a:p>
        </p:txBody>
      </p:sp>
      <p:sp>
        <p:nvSpPr>
          <p:cNvPr id="3" name="Challenges card"/>
          <p:cNvSpPr/>
          <p:nvPr/>
        </p:nvSpPr>
        <p:spPr>
          <a:xfrm>
            <a:off x="548640" y="1371600"/>
            <a:ext cx="3515258" cy="4892040"/>
          </a:xfrm>
          <a:prstGeom prst="roundRect">
            <a:avLst>
              <a:gd name="adj" fmla="val 2601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4" name="Challenges badge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5" name="Challenges icon" descr="Challeng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1690268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554480"/>
            <a:ext cx="2417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Challenges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3012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During development, we encountered: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301233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Frontend/backend response mismatches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AI-provider availability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 response consistency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Role and ownership security issues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CORS and production routing issues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Integration conflicts between team branches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Increasing testing requirements as the system expanded</a:t>
            </a:r>
            <a:endParaRPr lang="en-US" sz="1500" dirty="0"/>
          </a:p>
        </p:txBody>
      </p:sp>
      <p:sp>
        <p:nvSpPr>
          <p:cNvPr id="9" name="How We Responded card"/>
          <p:cNvSpPr/>
          <p:nvPr/>
        </p:nvSpPr>
        <p:spPr>
          <a:xfrm>
            <a:off x="4338218" y="1371600"/>
            <a:ext cx="3515258" cy="4892040"/>
          </a:xfrm>
          <a:prstGeom prst="roundRect">
            <a:avLst>
              <a:gd name="adj" fmla="val 2601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0" name="How We Responded badge"/>
          <p:cNvSpPr/>
          <p:nvPr/>
        </p:nvSpPr>
        <p:spPr>
          <a:xfrm>
            <a:off x="4612538" y="1554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1" name="How We Responded icon" descr="How We Responde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327" y="169026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8338" y="1554480"/>
            <a:ext cx="2417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How We Responded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2331720"/>
            <a:ext cx="3012338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Standardised API contracts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Added deterministic AI fallback behaviour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Strengthened JWT/RBAC and ownership checks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Improved exception handling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Refactored integrated code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Expanded automated testing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Used Docker to reduce environment differences</a:t>
            </a:r>
            <a:endParaRPr lang="en-US" sz="1500" dirty="0"/>
          </a:p>
        </p:txBody>
      </p:sp>
      <p:sp>
        <p:nvSpPr>
          <p:cNvPr id="14" name="Lessons Learned card"/>
          <p:cNvSpPr/>
          <p:nvPr/>
        </p:nvSpPr>
        <p:spPr>
          <a:xfrm>
            <a:off x="8127797" y="1371600"/>
            <a:ext cx="3515258" cy="4892040"/>
          </a:xfrm>
          <a:prstGeom prst="roundRect">
            <a:avLst>
              <a:gd name="adj" fmla="val 2601"/>
            </a:avLst>
          </a:prstGeom>
          <a:solidFill>
            <a:schemeClr val="bg1"/>
          </a:solidFill>
          <a:ln/>
          <a:effectLst>
            <a:outerShdw blurRad="127000" dist="25400" dir="5400000" algn="bl" rotWithShape="0">
              <a:srgbClr val="0B1F33">
                <a:alpha val="10000"/>
              </a:srgbClr>
            </a:outerShdw>
          </a:effectLst>
        </p:spPr>
        <p:txBody>
          <a:bodyPr/>
          <a:lstStyle/>
          <a:p>
            <a:endParaRPr lang="en-AU"/>
          </a:p>
        </p:txBody>
      </p:sp>
      <p:sp>
        <p:nvSpPr>
          <p:cNvPr id="15" name="Lessons Learned badge"/>
          <p:cNvSpPr/>
          <p:nvPr/>
        </p:nvSpPr>
        <p:spPr>
          <a:xfrm>
            <a:off x="8402117" y="15544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6" name="Lessons Learned icon" descr="Lessons Learn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905" y="1690268"/>
            <a:ext cx="231343" cy="23134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87917" y="1554480"/>
            <a:ext cx="24179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Lessons Learned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2331720"/>
            <a:ext cx="3012338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Integration should begin early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API contracts must remain consistent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 output requires validation and fallback behaviour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Security must be designed across the whole workflow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Automated testing becomes increasingly important as a system grows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Git collaboration requires clear team responsibilities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Conclusion &amp; Project Achievements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2"/>
                </a:solidFill>
              </a:rPr>
              <a:t>PROJECT OUTCOME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The project successfully developed an integrated AI-Based Customer Support Automation System, combining AI-assisted customer interactions with structured ticket management and human support.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2"/>
                </a:solidFill>
              </a:rPr>
              <a:t>KEY ACHIEVEMENTS</a:t>
            </a:r>
            <a:endParaRPr lang="en-US" sz="1200" dirty="0"/>
          </a:p>
        </p:txBody>
      </p:sp>
      <p:sp>
        <p:nvSpPr>
          <p:cNvPr id="6" name="AI-Assisted Support card"/>
          <p:cNvSpPr/>
          <p:nvPr/>
        </p:nvSpPr>
        <p:spPr>
          <a:xfrm>
            <a:off x="4937760" y="1874520"/>
            <a:ext cx="3227832" cy="1325880"/>
          </a:xfrm>
          <a:prstGeom prst="roundRect">
            <a:avLst>
              <a:gd name="adj" fmla="val 6897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AI-Assisted Support badge"/>
          <p:cNvSpPr/>
          <p:nvPr/>
        </p:nvSpPr>
        <p:spPr>
          <a:xfrm>
            <a:off x="5120640" y="203911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8" name="AI-Assisted Support icon" descr="AI-Assisted Suppo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1740" y="2150212"/>
            <a:ext cx="189281" cy="18928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0" y="203911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AI-Assisted Support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249631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Automated responses, issue classification, sentiment analysis and escalation decisions.</a:t>
            </a:r>
            <a:endParaRPr lang="en-US" sz="1300" dirty="0"/>
          </a:p>
        </p:txBody>
      </p:sp>
      <p:sp>
        <p:nvSpPr>
          <p:cNvPr id="11" name="Ticket Management card"/>
          <p:cNvSpPr/>
          <p:nvPr/>
        </p:nvSpPr>
        <p:spPr>
          <a:xfrm>
            <a:off x="8412480" y="1874520"/>
            <a:ext cx="3227832" cy="1325880"/>
          </a:xfrm>
          <a:prstGeom prst="roundRect">
            <a:avLst>
              <a:gd name="adj" fmla="val 6897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2" name="Ticket Management badge"/>
          <p:cNvSpPr/>
          <p:nvPr/>
        </p:nvSpPr>
        <p:spPr>
          <a:xfrm>
            <a:off x="8595360" y="203911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3" name="Ticket Management icon" descr="Ticket Manageme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6460" y="2150212"/>
            <a:ext cx="189281" cy="18928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9144000" y="203911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Ticket Management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249631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Ticket creation, prioritisation, assignment, tracking and resolution.</a:t>
            </a:r>
            <a:endParaRPr lang="en-US" sz="1300" dirty="0"/>
          </a:p>
        </p:txBody>
      </p:sp>
      <p:sp>
        <p:nvSpPr>
          <p:cNvPr id="16" name="Human-in-the-Loop card"/>
          <p:cNvSpPr/>
          <p:nvPr/>
        </p:nvSpPr>
        <p:spPr>
          <a:xfrm>
            <a:off x="4937760" y="3337560"/>
            <a:ext cx="3227832" cy="1325880"/>
          </a:xfrm>
          <a:prstGeom prst="roundRect">
            <a:avLst>
              <a:gd name="adj" fmla="val 6897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Human-in-the-Loop badge"/>
          <p:cNvSpPr/>
          <p:nvPr/>
        </p:nvSpPr>
        <p:spPr>
          <a:xfrm>
            <a:off x="5120640" y="350215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18" name="Human-in-the-Loop icon" descr="Human-in-the-Loo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1740" y="3613252"/>
            <a:ext cx="189281" cy="18928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669280" y="35021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Human-in-the-Loop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120640" y="395935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Support agents manage escalated enquiries requiring further assistance.</a:t>
            </a:r>
            <a:endParaRPr lang="en-US" sz="1300" dirty="0"/>
          </a:p>
        </p:txBody>
      </p:sp>
      <p:sp>
        <p:nvSpPr>
          <p:cNvPr id="21" name="Secure Role-Based Access card"/>
          <p:cNvSpPr/>
          <p:nvPr/>
        </p:nvSpPr>
        <p:spPr>
          <a:xfrm>
            <a:off x="8412480" y="3337560"/>
            <a:ext cx="3227832" cy="1325880"/>
          </a:xfrm>
          <a:prstGeom prst="roundRect">
            <a:avLst>
              <a:gd name="adj" fmla="val 6897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2" name="Secure Role-Based Access badge"/>
          <p:cNvSpPr/>
          <p:nvPr/>
        </p:nvSpPr>
        <p:spPr>
          <a:xfrm>
            <a:off x="8595360" y="350215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23" name="Secure Role-Based Access icon" descr="Secure Role-Based A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6460" y="3613252"/>
            <a:ext cx="189281" cy="18928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144000" y="35021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Secure Role-Based Access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8595360" y="395935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JWT authentication and controlled access for CLIENT, AGENT and ADMIN.</a:t>
            </a:r>
            <a:endParaRPr lang="en-US" sz="1300" dirty="0"/>
          </a:p>
        </p:txBody>
      </p:sp>
      <p:sp>
        <p:nvSpPr>
          <p:cNvPr id="26" name="Integrated Platform card"/>
          <p:cNvSpPr/>
          <p:nvPr/>
        </p:nvSpPr>
        <p:spPr>
          <a:xfrm>
            <a:off x="4937760" y="4800600"/>
            <a:ext cx="3227832" cy="1325880"/>
          </a:xfrm>
          <a:prstGeom prst="roundRect">
            <a:avLst>
              <a:gd name="adj" fmla="val 6897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27" name="Integrated Platform badge"/>
          <p:cNvSpPr/>
          <p:nvPr/>
        </p:nvSpPr>
        <p:spPr>
          <a:xfrm>
            <a:off x="5120640" y="496519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28" name="Integrated Platform icon" descr="Integrated Platform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1740" y="5076292"/>
            <a:ext cx="189281" cy="18928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669280" y="4965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Integrated Platform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5120640" y="542239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React frontend, Spring Boot backend, knowledge base, notifications, analytics and logging.</a:t>
            </a:r>
            <a:endParaRPr lang="en-US" sz="1300" dirty="0"/>
          </a:p>
        </p:txBody>
      </p:sp>
      <p:sp>
        <p:nvSpPr>
          <p:cNvPr id="31" name="Cloud Deployment card"/>
          <p:cNvSpPr/>
          <p:nvPr/>
        </p:nvSpPr>
        <p:spPr>
          <a:xfrm>
            <a:off x="8412480" y="4800600"/>
            <a:ext cx="3227832" cy="1325880"/>
          </a:xfrm>
          <a:prstGeom prst="roundRect">
            <a:avLst>
              <a:gd name="adj" fmla="val 6897"/>
            </a:avLst>
          </a:prstGeom>
          <a:solidFill>
            <a:schemeClr val="bg1">
              <a:alpha val="8000"/>
            </a:schemeClr>
          </a:solidFill>
          <a:ln w="9525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32" name="Cloud Deployment badge"/>
          <p:cNvSpPr/>
          <p:nvPr/>
        </p:nvSpPr>
        <p:spPr>
          <a:xfrm>
            <a:off x="8595360" y="496519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AU"/>
          </a:p>
        </p:txBody>
      </p:sp>
      <p:pic>
        <p:nvPicPr>
          <p:cNvPr id="33" name="Cloud Deployment icon" descr="Cloud Deploymen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6460" y="5076292"/>
            <a:ext cx="189281" cy="189281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144000" y="4965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Cloud Deployment</a:t>
            </a:r>
            <a:endParaRPr lang="en-US" sz="1500" dirty="0"/>
          </a:p>
        </p:txBody>
      </p:sp>
      <p:sp>
        <p:nvSpPr>
          <p:cNvPr id="35" name="Text 27"/>
          <p:cNvSpPr txBox="1"/>
          <p:nvPr/>
        </p:nvSpPr>
        <p:spPr>
          <a:xfrm>
            <a:off x="8595360" y="542239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Containerised application deployed using Docker, Azure and Cloudflare.</a:t>
            </a:r>
            <a:endParaRPr lang="en-US" sz="13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image" descr="Robot hands touching a digital interfac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517914"/>
            <a:ext cx="5577840" cy="3392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401474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Any Questions?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port Automation">
  <a:themeElements>
    <a:clrScheme name="Support Automation">
      <a:dk1>
        <a:srgbClr val="0B1F33"/>
      </a:dk1>
      <a:lt1>
        <a:srgbClr val="FFFFFF"/>
      </a:lt1>
      <a:dk2>
        <a:srgbClr val="12304A"/>
      </a:dk2>
      <a:lt2>
        <a:srgbClr val="F2F6F8"/>
      </a:lt2>
      <a:accent1>
        <a:srgbClr val="0E9384"/>
      </a:accent1>
      <a:accent2>
        <a:srgbClr val="E8833A"/>
      </a:accent2>
      <a:accent3>
        <a:srgbClr val="2F6F9F"/>
      </a:accent3>
      <a:accent4>
        <a:srgbClr val="8FD3C8"/>
      </a:accent4>
      <a:accent5>
        <a:srgbClr val="C94F4F"/>
      </a:accent5>
      <a:accent6>
        <a:srgbClr val="5B6B7B"/>
      </a:accent6>
      <a:hlink>
        <a:srgbClr val="0E9384"/>
      </a:hlink>
      <a:folHlink>
        <a:srgbClr val="5B6B7B"/>
      </a:folHlink>
    </a:clrScheme>
    <a:fontScheme name="Support Automat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1798</Words>
  <Application>Microsoft Office PowerPoint</Application>
  <PresentationFormat>Widescreen</PresentationFormat>
  <Paragraphs>390</Paragraphs>
  <Slides>21</Slides>
  <Notes>21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Support Automation</vt:lpstr>
      <vt:lpstr>AI-Based Customer Support Automation System</vt:lpstr>
      <vt:lpstr>The Problem</vt:lpstr>
      <vt:lpstr>Project Objectives</vt:lpstr>
      <vt:lpstr>Solution Overview</vt:lpstr>
      <vt:lpstr>Project Scope</vt:lpstr>
      <vt:lpstr>Users and Roles</vt:lpstr>
      <vt:lpstr>Team Contributions</vt:lpstr>
      <vt:lpstr>Project Development</vt:lpstr>
      <vt:lpstr>GitHub, Project Management &amp; Technology Stack</vt:lpstr>
      <vt:lpstr>System Architecture</vt:lpstr>
      <vt:lpstr>Database &amp; Domain Model</vt:lpstr>
      <vt:lpstr>End-to-End Customer Support Workflow</vt:lpstr>
      <vt:lpstr>AI Integration, Security &amp; Access Control</vt:lpstr>
      <vt:lpstr>Live Demonstration: Client</vt:lpstr>
      <vt:lpstr>Live Demonstration: Support Agent</vt:lpstr>
      <vt:lpstr>Live Demonstration: Administrator</vt:lpstr>
      <vt:lpstr>Testing &amp; Verification</vt:lpstr>
      <vt:lpstr>Deployment</vt:lpstr>
      <vt:lpstr>Challenges &amp; Lessons Learned</vt:lpstr>
      <vt:lpstr>Conclusion &amp; Project Achievements</vt:lpstr>
      <vt:lpstr>Thank You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AI-Based Customer Support Automation System</dc:title>
  <dc:subject>PptxGenJS Presentation</dc:subject>
  <dc:creator>Prajita Bhandari, Akrishta Ale, Ayush Bhandari</dc:creator>
  <cp:lastModifiedBy>Prajita Bhandari</cp:lastModifiedBy>
  <cp:revision>4</cp:revision>
  <dcterms:created xsi:type="dcterms:W3CDTF">2026-10-09T00:02:25Z</dcterms:created>
  <dcterms:modified xsi:type="dcterms:W3CDTF">2026-10-09T07:11:20Z</dcterms:modified>
</cp:coreProperties>
</file>